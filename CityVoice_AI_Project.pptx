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01" autoAdjust="0"/>
    <p:restoredTop sz="94660"/>
  </p:normalViewPr>
  <p:slideViewPr>
    <p:cSldViewPr>
      <p:cViewPr>
        <p:scale>
          <a:sx n="150" d="100"/>
          <a:sy n="150" d="100"/>
        </p:scale>
        <p:origin x="-492" y="-324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1F5B4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14400" y="1478280"/>
            <a:ext cx="5943600" cy="76200"/>
          </a:xfrm>
          <a:custGeom>
            <a:avLst/>
            <a:gdLst/>
            <a:ahLst/>
            <a:cxnLst/>
            <a:rect l="l" t="t" r="r" b="b"/>
            <a:pathLst>
              <a:path w="5943600" h="76200">
                <a:moveTo>
                  <a:pt x="5943600" y="0"/>
                </a:moveTo>
                <a:lnTo>
                  <a:pt x="0" y="0"/>
                </a:lnTo>
                <a:lnTo>
                  <a:pt x="0" y="76200"/>
                </a:lnTo>
                <a:lnTo>
                  <a:pt x="5943600" y="76200"/>
                </a:lnTo>
                <a:lnTo>
                  <a:pt x="5943600" y="0"/>
                </a:lnTo>
                <a:close/>
              </a:path>
            </a:pathLst>
          </a:custGeom>
          <a:solidFill>
            <a:srgbClr val="E875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1F5B4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1F5B4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1F5B4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57969" y="1922780"/>
            <a:ext cx="1656461" cy="360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1F5B4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CityVoice</a:t>
            </a:r>
            <a:r>
              <a:rPr spc="-105" dirty="0"/>
              <a:t> </a:t>
            </a:r>
            <a:r>
              <a:rPr spc="-25" dirty="0"/>
              <a:t>AI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29127" y="2341880"/>
            <a:ext cx="4914900" cy="858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50" dirty="0">
                <a:solidFill>
                  <a:srgbClr val="444444"/>
                </a:solidFill>
                <a:latin typeface="Arial MT"/>
                <a:cs typeface="Arial MT"/>
              </a:rPr>
              <a:t>A</a:t>
            </a:r>
            <a:r>
              <a:rPr sz="1250" spc="-3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444444"/>
                </a:solidFill>
                <a:latin typeface="Arial MT"/>
                <a:cs typeface="Arial MT"/>
              </a:rPr>
              <a:t>Smart</a:t>
            </a:r>
            <a:r>
              <a:rPr sz="1250" spc="-3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444444"/>
                </a:solidFill>
                <a:latin typeface="Arial MT"/>
                <a:cs typeface="Arial MT"/>
              </a:rPr>
              <a:t>Civic</a:t>
            </a:r>
            <a:r>
              <a:rPr sz="1250" spc="-3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444444"/>
                </a:solidFill>
                <a:latin typeface="Arial MT"/>
                <a:cs typeface="Arial MT"/>
              </a:rPr>
              <a:t>Grievance</a:t>
            </a:r>
            <a:r>
              <a:rPr sz="1250" spc="-3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444444"/>
                </a:solidFill>
                <a:latin typeface="Arial MT"/>
                <a:cs typeface="Arial MT"/>
              </a:rPr>
              <a:t>Triage</a:t>
            </a:r>
            <a:r>
              <a:rPr sz="1250" spc="-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444444"/>
                </a:solidFill>
                <a:latin typeface="Arial MT"/>
                <a:cs typeface="Arial MT"/>
              </a:rPr>
              <a:t>&amp;</a:t>
            </a:r>
            <a:r>
              <a:rPr sz="1250" spc="-3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444444"/>
                </a:solidFill>
                <a:latin typeface="Arial MT"/>
                <a:cs typeface="Arial MT"/>
              </a:rPr>
              <a:t>Resolution</a:t>
            </a:r>
            <a:r>
              <a:rPr sz="1250" spc="-3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50" spc="-10" dirty="0">
                <a:solidFill>
                  <a:srgbClr val="444444"/>
                </a:solidFill>
                <a:latin typeface="Arial MT"/>
                <a:cs typeface="Arial MT"/>
              </a:rPr>
              <a:t>Assistant</a:t>
            </a:r>
            <a:endParaRPr sz="12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60"/>
              </a:spcBef>
            </a:pPr>
            <a:endParaRPr sz="125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1050" dirty="0">
                <a:solidFill>
                  <a:srgbClr val="545454"/>
                </a:solidFill>
                <a:latin typeface="Arial MT"/>
                <a:cs typeface="Arial MT"/>
              </a:rPr>
              <a:t>1M1B</a:t>
            </a:r>
            <a:r>
              <a:rPr sz="1050" spc="-25" dirty="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545454"/>
                </a:solidFill>
                <a:latin typeface="Arial MT"/>
                <a:cs typeface="Arial MT"/>
              </a:rPr>
              <a:t>AI</a:t>
            </a:r>
            <a:r>
              <a:rPr sz="1050" spc="-25" dirty="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545454"/>
                </a:solidFill>
                <a:latin typeface="Arial MT"/>
                <a:cs typeface="Arial MT"/>
              </a:rPr>
              <a:t>for</a:t>
            </a:r>
            <a:r>
              <a:rPr sz="1050" spc="-25" dirty="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545454"/>
                </a:solidFill>
                <a:latin typeface="Arial MT"/>
                <a:cs typeface="Arial MT"/>
              </a:rPr>
              <a:t>Sustainability</a:t>
            </a:r>
            <a:r>
              <a:rPr sz="1050" spc="-25" dirty="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545454"/>
                </a:solidFill>
                <a:latin typeface="Arial MT"/>
                <a:cs typeface="Arial MT"/>
              </a:rPr>
              <a:t>Virtual</a:t>
            </a:r>
            <a:r>
              <a:rPr sz="1050" spc="-20" dirty="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545454"/>
                </a:solidFill>
                <a:latin typeface="Arial MT"/>
                <a:cs typeface="Arial MT"/>
              </a:rPr>
              <a:t>Internship</a:t>
            </a:r>
            <a:endParaRPr sz="105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240"/>
              </a:spcBef>
            </a:pPr>
            <a:r>
              <a:rPr sz="1050" dirty="0">
                <a:solidFill>
                  <a:srgbClr val="545454"/>
                </a:solidFill>
                <a:latin typeface="Arial MT"/>
                <a:cs typeface="Arial MT"/>
              </a:rPr>
              <a:t>Project</a:t>
            </a:r>
            <a:r>
              <a:rPr sz="1050" spc="-20" dirty="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545454"/>
                </a:solidFill>
                <a:latin typeface="Arial MT"/>
                <a:cs typeface="Arial MT"/>
              </a:rPr>
              <a:t>Creation</a:t>
            </a:r>
            <a:r>
              <a:rPr sz="1050" spc="-20" dirty="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545454"/>
                </a:solidFill>
                <a:latin typeface="Arial MT"/>
                <a:cs typeface="Arial MT"/>
              </a:rPr>
              <a:t>&amp;</a:t>
            </a:r>
            <a:r>
              <a:rPr sz="1050" spc="-15" dirty="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545454"/>
                </a:solidFill>
                <a:latin typeface="Arial MT"/>
                <a:cs typeface="Arial MT"/>
              </a:rPr>
              <a:t>Guideline</a:t>
            </a:r>
            <a:r>
              <a:rPr sz="1050" spc="-20" dirty="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545454"/>
                </a:solidFill>
                <a:latin typeface="Arial MT"/>
                <a:cs typeface="Arial MT"/>
              </a:rPr>
              <a:t>Track</a:t>
            </a:r>
            <a:r>
              <a:rPr sz="1050" spc="254" dirty="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545454"/>
                </a:solidFill>
                <a:latin typeface="Arial MT"/>
                <a:cs typeface="Arial MT"/>
              </a:rPr>
              <a:t>|</a:t>
            </a:r>
            <a:r>
              <a:rPr sz="1050" spc="250" dirty="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545454"/>
                </a:solidFill>
                <a:latin typeface="Arial MT"/>
                <a:cs typeface="Arial MT"/>
              </a:rPr>
              <a:t>In</a:t>
            </a:r>
            <a:r>
              <a:rPr sz="1050" spc="-15" dirty="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545454"/>
                </a:solidFill>
                <a:latin typeface="Arial MT"/>
                <a:cs typeface="Arial MT"/>
              </a:rPr>
              <a:t>collaboration</a:t>
            </a:r>
            <a:r>
              <a:rPr sz="1050" spc="-20" dirty="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545454"/>
                </a:solidFill>
                <a:latin typeface="Arial MT"/>
                <a:cs typeface="Arial MT"/>
              </a:rPr>
              <a:t>with</a:t>
            </a:r>
            <a:r>
              <a:rPr sz="1050" spc="-15" dirty="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545454"/>
                </a:solidFill>
                <a:latin typeface="Arial MT"/>
                <a:cs typeface="Arial MT"/>
              </a:rPr>
              <a:t>IBM</a:t>
            </a:r>
            <a:r>
              <a:rPr sz="1050" spc="-20" dirty="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545454"/>
                </a:solidFill>
                <a:latin typeface="Arial MT"/>
                <a:cs typeface="Arial MT"/>
              </a:rPr>
              <a:t>SkillsBuild</a:t>
            </a:r>
            <a:r>
              <a:rPr sz="1050" spc="-15" dirty="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545454"/>
                </a:solidFill>
                <a:latin typeface="Arial MT"/>
                <a:cs typeface="Arial MT"/>
              </a:rPr>
              <a:t>&amp;</a:t>
            </a:r>
            <a:r>
              <a:rPr sz="1050" spc="-20" dirty="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545454"/>
                </a:solidFill>
                <a:latin typeface="Arial MT"/>
                <a:cs typeface="Arial MT"/>
              </a:rPr>
              <a:t>AICTE</a:t>
            </a:r>
            <a:endParaRPr sz="105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835523"/>
              </p:ext>
            </p:extLst>
          </p:nvPr>
        </p:nvGraphicFramePr>
        <p:xfrm>
          <a:off x="1139189" y="3595370"/>
          <a:ext cx="5486400" cy="977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63040"/>
                <a:gridCol w="4023360"/>
              </a:tblGrid>
              <a:tr h="39370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000" b="1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Primary</a:t>
                      </a:r>
                      <a:r>
                        <a:rPr sz="1000" b="1" spc="114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25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SDG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105410" marB="0">
                    <a:lnL w="9525">
                      <a:solidFill>
                        <a:srgbClr val="CFDFD8"/>
                      </a:solidFill>
                      <a:prstDash val="solid"/>
                    </a:lnL>
                    <a:lnR w="6350" cap="flat" cmpd="sng" algn="ctr">
                      <a:solidFill>
                        <a:srgbClr val="CF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CFDFD8"/>
                      </a:solidFill>
                      <a:prstDash val="solid"/>
                    </a:lnT>
                    <a:lnB w="6350">
                      <a:solidFill>
                        <a:srgbClr val="CFDFD8"/>
                      </a:solidFill>
                      <a:prstDash val="solid"/>
                    </a:lnB>
                    <a:solidFill>
                      <a:srgbClr val="EFF6F2"/>
                    </a:solidFill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0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SDG</a:t>
                      </a:r>
                      <a:r>
                        <a:rPr sz="1000" spc="75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11</a:t>
                      </a:r>
                      <a:r>
                        <a:rPr sz="1000" spc="8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—</a:t>
                      </a:r>
                      <a:r>
                        <a:rPr sz="1000" spc="75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Sustainable</a:t>
                      </a:r>
                      <a:r>
                        <a:rPr sz="1000" spc="8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Cities</a:t>
                      </a:r>
                      <a:r>
                        <a:rPr sz="1000" spc="75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1000" spc="8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Communities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05410" marB="0">
                    <a:lnL w="6350" cap="flat" cmpd="sng" algn="ctr">
                      <a:solidFill>
                        <a:srgbClr val="CF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FD8"/>
                      </a:solidFill>
                      <a:prstDash val="solid"/>
                    </a:lnR>
                    <a:lnT w="6350">
                      <a:solidFill>
                        <a:srgbClr val="CFDFD8"/>
                      </a:solidFill>
                      <a:prstDash val="solid"/>
                    </a:lnT>
                    <a:lnB w="6350">
                      <a:solidFill>
                        <a:srgbClr val="CFDFD8"/>
                      </a:solidFill>
                      <a:prstDash val="solid"/>
                    </a:lnB>
                    <a:solidFill>
                      <a:srgbClr val="EFF6F2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000" b="1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Secondary</a:t>
                      </a:r>
                      <a:r>
                        <a:rPr sz="1000" b="1" spc="155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20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SDGs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05410" marB="0">
                    <a:lnL w="9525">
                      <a:solidFill>
                        <a:srgbClr val="CFDFD8"/>
                      </a:solidFill>
                      <a:prstDash val="solid"/>
                    </a:lnL>
                    <a:lnR w="6350">
                      <a:solidFill>
                        <a:srgbClr val="CFDFD8"/>
                      </a:solidFill>
                      <a:prstDash val="solid"/>
                    </a:lnR>
                    <a:lnT w="6350">
                      <a:solidFill>
                        <a:srgbClr val="CFDFD8"/>
                      </a:solidFill>
                      <a:prstDash val="solid"/>
                    </a:lnT>
                    <a:lnB w="9525">
                      <a:solidFill>
                        <a:srgbClr val="CFDFD8"/>
                      </a:solidFill>
                      <a:prstDash val="solid"/>
                    </a:lnB>
                    <a:solidFill>
                      <a:srgbClr val="EFF6F2"/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481330">
                        <a:lnSpc>
                          <a:spcPct val="125000"/>
                        </a:lnSpc>
                        <a:spcBef>
                          <a:spcPts val="530"/>
                        </a:spcBef>
                      </a:pPr>
                      <a:r>
                        <a:rPr sz="10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SDG</a:t>
                      </a:r>
                      <a:r>
                        <a:rPr sz="1000" spc="7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9</a:t>
                      </a:r>
                      <a:r>
                        <a:rPr sz="1000" spc="75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—</a:t>
                      </a:r>
                      <a:r>
                        <a:rPr sz="1000" spc="7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Industry,</a:t>
                      </a:r>
                      <a:r>
                        <a:rPr sz="1000" spc="75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Innovation</a:t>
                      </a:r>
                      <a:r>
                        <a:rPr sz="1000" spc="7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&amp;</a:t>
                      </a:r>
                      <a:r>
                        <a:rPr sz="1000" spc="75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Infrastructure</a:t>
                      </a:r>
                      <a:r>
                        <a:rPr sz="1000" spc="7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|</a:t>
                      </a:r>
                      <a:r>
                        <a:rPr sz="1000" spc="75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SDG</a:t>
                      </a:r>
                      <a:r>
                        <a:rPr sz="1000" spc="7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16</a:t>
                      </a:r>
                      <a:r>
                        <a:rPr sz="1000" spc="75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5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—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Peace,</a:t>
                      </a:r>
                      <a:r>
                        <a:rPr sz="1000" spc="75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Justice</a:t>
                      </a:r>
                      <a:r>
                        <a:rPr sz="1000" spc="8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&amp;</a:t>
                      </a:r>
                      <a:r>
                        <a:rPr sz="1000" spc="75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Strong</a:t>
                      </a:r>
                      <a:r>
                        <a:rPr sz="1000" spc="8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Institutions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FDFD8"/>
                      </a:solidFill>
                      <a:prstDash val="solid"/>
                    </a:lnL>
                    <a:lnR w="9525">
                      <a:solidFill>
                        <a:srgbClr val="CFDFD8"/>
                      </a:solidFill>
                      <a:prstDash val="solid"/>
                    </a:lnR>
                    <a:lnT w="6350">
                      <a:solidFill>
                        <a:srgbClr val="CFDFD8"/>
                      </a:solidFill>
                      <a:prstDash val="solid"/>
                    </a:lnT>
                    <a:lnB w="9525">
                      <a:solidFill>
                        <a:srgbClr val="CFDFD8"/>
                      </a:solidFill>
                      <a:prstDash val="solid"/>
                    </a:lnB>
                    <a:solidFill>
                      <a:srgbClr val="EFF6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0739" y="703580"/>
            <a:ext cx="6091555" cy="5725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b="1" dirty="0">
                <a:solidFill>
                  <a:srgbClr val="1F5B4D"/>
                </a:solidFill>
                <a:latin typeface="Arial"/>
                <a:cs typeface="Arial"/>
              </a:rPr>
              <a:t>1.</a:t>
            </a:r>
            <a:r>
              <a:rPr sz="1450" b="1" spc="-35" dirty="0">
                <a:solidFill>
                  <a:srgbClr val="1F5B4D"/>
                </a:solidFill>
                <a:latin typeface="Arial"/>
                <a:cs typeface="Arial"/>
              </a:rPr>
              <a:t> </a:t>
            </a:r>
            <a:r>
              <a:rPr sz="1450" b="1" dirty="0">
                <a:solidFill>
                  <a:srgbClr val="1F5B4D"/>
                </a:solidFill>
                <a:latin typeface="Arial"/>
                <a:cs typeface="Arial"/>
              </a:rPr>
              <a:t>Project</a:t>
            </a:r>
            <a:r>
              <a:rPr sz="1450" b="1" spc="-30" dirty="0">
                <a:solidFill>
                  <a:srgbClr val="1F5B4D"/>
                </a:solidFill>
                <a:latin typeface="Arial"/>
                <a:cs typeface="Arial"/>
              </a:rPr>
              <a:t> </a:t>
            </a:r>
            <a:r>
              <a:rPr sz="1450" b="1" spc="-10" dirty="0">
                <a:solidFill>
                  <a:srgbClr val="1F5B4D"/>
                </a:solidFill>
                <a:latin typeface="Arial"/>
                <a:cs typeface="Arial"/>
              </a:rPr>
              <a:t>Description</a:t>
            </a: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sz="1150" b="1" spc="-10" dirty="0">
                <a:solidFill>
                  <a:srgbClr val="E8753A"/>
                </a:solidFill>
                <a:latin typeface="Arial"/>
                <a:cs typeface="Arial"/>
              </a:rPr>
              <a:t>Title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CityVoice</a:t>
            </a:r>
            <a:r>
              <a:rPr sz="1000" spc="8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AI:</a:t>
            </a:r>
            <a:r>
              <a:rPr sz="1000" spc="8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</a:t>
            </a:r>
            <a:r>
              <a:rPr sz="1000" spc="8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Smart</a:t>
            </a:r>
            <a:r>
              <a:rPr sz="1000" spc="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Civic</a:t>
            </a:r>
            <a:r>
              <a:rPr sz="1000" spc="8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Grievance</a:t>
            </a:r>
            <a:r>
              <a:rPr sz="1000" spc="8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Triage</a:t>
            </a:r>
            <a:r>
              <a:rPr sz="1000" spc="8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&amp;</a:t>
            </a:r>
            <a:r>
              <a:rPr sz="1000" spc="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Resolution</a:t>
            </a:r>
            <a:r>
              <a:rPr sz="1000" spc="8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A1A1A"/>
                </a:solidFill>
                <a:latin typeface="Arial MT"/>
                <a:cs typeface="Arial MT"/>
              </a:rPr>
              <a:t>Assistant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150" b="1" dirty="0">
                <a:solidFill>
                  <a:srgbClr val="E8753A"/>
                </a:solidFill>
                <a:latin typeface="Arial"/>
                <a:cs typeface="Arial"/>
              </a:rPr>
              <a:t>SDG </a:t>
            </a:r>
            <a:r>
              <a:rPr sz="1150" b="1" spc="-10" dirty="0">
                <a:solidFill>
                  <a:srgbClr val="E8753A"/>
                </a:solidFill>
                <a:latin typeface="Arial"/>
                <a:cs typeface="Arial"/>
              </a:rPr>
              <a:t>Alignment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1000" b="1" dirty="0">
                <a:solidFill>
                  <a:srgbClr val="1A1A1A"/>
                </a:solidFill>
                <a:latin typeface="Arial"/>
                <a:cs typeface="Arial"/>
              </a:rPr>
              <a:t>Primary:</a:t>
            </a:r>
            <a:r>
              <a:rPr sz="1000" b="1" spc="80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SDG</a:t>
            </a:r>
            <a:r>
              <a:rPr sz="1000" spc="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11</a:t>
            </a:r>
            <a:r>
              <a:rPr sz="1000" spc="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—</a:t>
            </a:r>
            <a:r>
              <a:rPr sz="1000" spc="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Sustainable</a:t>
            </a:r>
            <a:r>
              <a:rPr sz="1000" spc="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Cities</a:t>
            </a:r>
            <a:r>
              <a:rPr sz="1000" spc="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and</a:t>
            </a:r>
            <a:r>
              <a:rPr sz="1000" spc="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A1A1A"/>
                </a:solidFill>
                <a:latin typeface="Arial MT"/>
                <a:cs typeface="Arial MT"/>
              </a:rPr>
              <a:t>Communities</a:t>
            </a:r>
            <a:endParaRPr sz="1000">
              <a:latin typeface="Arial MT"/>
              <a:cs typeface="Arial MT"/>
            </a:endParaRPr>
          </a:p>
          <a:p>
            <a:pPr marL="12700" marR="254000">
              <a:lnSpc>
                <a:spcPct val="125000"/>
              </a:lnSpc>
              <a:spcBef>
                <a:spcPts val="600"/>
              </a:spcBef>
            </a:pPr>
            <a:r>
              <a:rPr sz="1000" b="1" dirty="0">
                <a:solidFill>
                  <a:srgbClr val="1A1A1A"/>
                </a:solidFill>
                <a:latin typeface="Arial"/>
                <a:cs typeface="Arial"/>
              </a:rPr>
              <a:t>Secondary:</a:t>
            </a:r>
            <a:r>
              <a:rPr sz="1000" b="1" spc="85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SDG</a:t>
            </a:r>
            <a:r>
              <a:rPr sz="10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9</a:t>
            </a:r>
            <a:r>
              <a:rPr sz="10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—</a:t>
            </a:r>
            <a:r>
              <a:rPr sz="1000" spc="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Industry,</a:t>
            </a:r>
            <a:r>
              <a:rPr sz="10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Innovation</a:t>
            </a:r>
            <a:r>
              <a:rPr sz="10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and</a:t>
            </a:r>
            <a:r>
              <a:rPr sz="10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Infrastructure;</a:t>
            </a:r>
            <a:r>
              <a:rPr sz="1000" spc="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SDG</a:t>
            </a:r>
            <a:r>
              <a:rPr sz="10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16</a:t>
            </a:r>
            <a:r>
              <a:rPr sz="10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—</a:t>
            </a:r>
            <a:r>
              <a:rPr sz="10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Peace,</a:t>
            </a:r>
            <a:r>
              <a:rPr sz="1000" spc="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Justice</a:t>
            </a:r>
            <a:r>
              <a:rPr sz="10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and</a:t>
            </a:r>
            <a:r>
              <a:rPr sz="10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A1A1A"/>
                </a:solidFill>
                <a:latin typeface="Arial MT"/>
                <a:cs typeface="Arial MT"/>
              </a:rPr>
              <a:t>Strong Institutions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150" b="1" dirty="0">
                <a:solidFill>
                  <a:srgbClr val="E8753A"/>
                </a:solidFill>
                <a:latin typeface="Arial"/>
                <a:cs typeface="Arial"/>
              </a:rPr>
              <a:t>Problem </a:t>
            </a:r>
            <a:r>
              <a:rPr sz="1150" b="1" spc="-10" dirty="0">
                <a:solidFill>
                  <a:srgbClr val="E8753A"/>
                </a:solidFill>
                <a:latin typeface="Arial"/>
                <a:cs typeface="Arial"/>
              </a:rPr>
              <a:t>Statement</a:t>
            </a:r>
            <a:endParaRPr sz="1150">
              <a:latin typeface="Arial"/>
              <a:cs typeface="Arial"/>
            </a:endParaRPr>
          </a:p>
          <a:p>
            <a:pPr marL="12700" marR="5080">
              <a:lnSpc>
                <a:spcPct val="125000"/>
              </a:lnSpc>
              <a:spcBef>
                <a:spcPts val="250"/>
              </a:spcBef>
            </a:pP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Municipal</a:t>
            </a:r>
            <a:r>
              <a:rPr sz="10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grievance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systems</a:t>
            </a:r>
            <a:r>
              <a:rPr sz="10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for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everyday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civic</a:t>
            </a:r>
            <a:r>
              <a:rPr sz="10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issues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—</a:t>
            </a:r>
            <a:r>
              <a:rPr sz="10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potholes,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garbage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overflow,</a:t>
            </a:r>
            <a:r>
              <a:rPr sz="10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broken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A1A1A"/>
                </a:solidFill>
                <a:latin typeface="Arial MT"/>
                <a:cs typeface="Arial MT"/>
              </a:rPr>
              <a:t>streetlights,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water</a:t>
            </a:r>
            <a:r>
              <a:rPr sz="10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leakage</a:t>
            </a:r>
            <a:r>
              <a:rPr sz="10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—</a:t>
            </a:r>
            <a:r>
              <a:rPr sz="10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are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scattered</a:t>
            </a:r>
            <a:r>
              <a:rPr sz="10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across</a:t>
            </a:r>
            <a:r>
              <a:rPr sz="10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phone</a:t>
            </a:r>
            <a:r>
              <a:rPr sz="10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calls,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paper</a:t>
            </a:r>
            <a:r>
              <a:rPr sz="10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forms,</a:t>
            </a:r>
            <a:r>
              <a:rPr sz="10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and</a:t>
            </a:r>
            <a:r>
              <a:rPr sz="10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informal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WhatsApp</a:t>
            </a:r>
            <a:r>
              <a:rPr sz="10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groups.</a:t>
            </a:r>
            <a:r>
              <a:rPr sz="10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1A1A1A"/>
                </a:solidFill>
                <a:latin typeface="Arial MT"/>
                <a:cs typeface="Arial MT"/>
              </a:rPr>
              <a:t>This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leads</a:t>
            </a:r>
            <a:r>
              <a:rPr sz="1000" spc="8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to</a:t>
            </a:r>
            <a:r>
              <a:rPr sz="1000" spc="8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delayed</a:t>
            </a:r>
            <a:r>
              <a:rPr sz="1000" spc="8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resolution,</a:t>
            </a:r>
            <a:r>
              <a:rPr sz="1000" spc="7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duplicate</a:t>
            </a:r>
            <a:r>
              <a:rPr sz="1000" spc="8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complaints,</a:t>
            </a:r>
            <a:r>
              <a:rPr sz="1000" spc="8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and</a:t>
            </a:r>
            <a:r>
              <a:rPr sz="1000" spc="8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no</a:t>
            </a:r>
            <a:r>
              <a:rPr sz="1000" spc="8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visibility</a:t>
            </a:r>
            <a:r>
              <a:rPr sz="1000" spc="8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for</a:t>
            </a:r>
            <a:r>
              <a:rPr sz="1000" spc="8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citizens</a:t>
            </a:r>
            <a:r>
              <a:rPr sz="1000" spc="8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on</a:t>
            </a:r>
            <a:r>
              <a:rPr sz="1000" spc="8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sz="1000" spc="8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status</a:t>
            </a:r>
            <a:r>
              <a:rPr sz="1000" spc="8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of</a:t>
            </a:r>
            <a:r>
              <a:rPr sz="1000" spc="8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their</a:t>
            </a:r>
            <a:r>
              <a:rPr sz="1000" spc="8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A1A1A"/>
                </a:solidFill>
                <a:latin typeface="Arial MT"/>
                <a:cs typeface="Arial MT"/>
              </a:rPr>
              <a:t>issue.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Municipal</a:t>
            </a:r>
            <a:r>
              <a:rPr sz="1000" spc="8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staff</a:t>
            </a:r>
            <a:r>
              <a:rPr sz="1000" spc="8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manually</a:t>
            </a:r>
            <a:r>
              <a:rPr sz="1000" spc="8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sort</a:t>
            </a:r>
            <a:r>
              <a:rPr sz="1000" spc="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and</a:t>
            </a:r>
            <a:r>
              <a:rPr sz="1000" spc="8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prioritize</a:t>
            </a:r>
            <a:r>
              <a:rPr sz="1000" spc="8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tickets,</a:t>
            </a:r>
            <a:r>
              <a:rPr sz="1000" spc="8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which</a:t>
            </a:r>
            <a:r>
              <a:rPr sz="1000" spc="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is</a:t>
            </a:r>
            <a:r>
              <a:rPr sz="1000" spc="8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slow</a:t>
            </a:r>
            <a:r>
              <a:rPr sz="1000" spc="8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and</a:t>
            </a:r>
            <a:r>
              <a:rPr sz="1000" spc="8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inconsistent</a:t>
            </a:r>
            <a:r>
              <a:rPr sz="1000" spc="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—</a:t>
            </a:r>
            <a:r>
              <a:rPr sz="1000" spc="8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</a:t>
            </a:r>
            <a:r>
              <a:rPr sz="1000" spc="8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safety</a:t>
            </a:r>
            <a:r>
              <a:rPr sz="1000" spc="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hazard</a:t>
            </a:r>
            <a:r>
              <a:rPr sz="1000" spc="8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A1A1A"/>
                </a:solidFill>
                <a:latin typeface="Arial MT"/>
                <a:cs typeface="Arial MT"/>
              </a:rPr>
              <a:t>(e.g.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an</a:t>
            </a:r>
            <a:r>
              <a:rPr sz="1000" spc="7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open</a:t>
            </a:r>
            <a:r>
              <a:rPr sz="1000" spc="7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manhole)</a:t>
            </a:r>
            <a:r>
              <a:rPr sz="1000" spc="7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can</a:t>
            </a:r>
            <a:r>
              <a:rPr sz="1000" spc="7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sit</a:t>
            </a:r>
            <a:r>
              <a:rPr sz="1000" spc="7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in</a:t>
            </a:r>
            <a:r>
              <a:rPr sz="1000" spc="7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sz="1000" spc="7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same</a:t>
            </a:r>
            <a:r>
              <a:rPr sz="1000" spc="7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queue</a:t>
            </a:r>
            <a:r>
              <a:rPr sz="1000" spc="7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as</a:t>
            </a:r>
            <a:r>
              <a:rPr sz="1000" spc="7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</a:t>
            </a:r>
            <a:r>
              <a:rPr sz="1000" spc="7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minor</a:t>
            </a:r>
            <a:r>
              <a:rPr sz="1000" spc="7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complaint</a:t>
            </a:r>
            <a:r>
              <a:rPr sz="1000" spc="7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(e.g.</a:t>
            </a:r>
            <a:r>
              <a:rPr sz="1000" spc="7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</a:t>
            </a:r>
            <a:r>
              <a:rPr sz="1000" spc="7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faded</a:t>
            </a:r>
            <a:r>
              <a:rPr sz="1000" spc="7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road</a:t>
            </a:r>
            <a:r>
              <a:rPr sz="1000" spc="7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sign).</a:t>
            </a:r>
            <a:r>
              <a:rPr sz="1000" spc="7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Ward</a:t>
            </a:r>
            <a:r>
              <a:rPr sz="1000" spc="7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A1A1A"/>
                </a:solidFill>
                <a:latin typeface="Arial MT"/>
                <a:cs typeface="Arial MT"/>
              </a:rPr>
              <a:t>officials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also</a:t>
            </a:r>
            <a:r>
              <a:rPr sz="1000" spc="8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lack</a:t>
            </a:r>
            <a:r>
              <a:rPr sz="1000" spc="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aggregated</a:t>
            </a:r>
            <a:r>
              <a:rPr sz="1000" spc="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data</a:t>
            </a:r>
            <a:r>
              <a:rPr sz="1000" spc="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to</a:t>
            </a:r>
            <a:r>
              <a:rPr sz="1000" spc="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identify</a:t>
            </a:r>
            <a:r>
              <a:rPr sz="1000" spc="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which</a:t>
            </a:r>
            <a:r>
              <a:rPr sz="1000" spc="8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areas</a:t>
            </a:r>
            <a:r>
              <a:rPr sz="1000" spc="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or</a:t>
            </a:r>
            <a:r>
              <a:rPr sz="1000" spc="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issue</a:t>
            </a:r>
            <a:r>
              <a:rPr sz="1000" spc="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types</a:t>
            </a:r>
            <a:r>
              <a:rPr sz="1000" spc="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most</a:t>
            </a:r>
            <a:r>
              <a:rPr sz="1000" spc="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need</a:t>
            </a:r>
            <a:r>
              <a:rPr sz="1000" spc="8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infrastructure</a:t>
            </a:r>
            <a:r>
              <a:rPr sz="1000" spc="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A1A1A"/>
                </a:solidFill>
                <a:latin typeface="Arial MT"/>
                <a:cs typeface="Arial MT"/>
              </a:rPr>
              <a:t>investment.</a:t>
            </a:r>
            <a:endParaRPr sz="1000">
              <a:latin typeface="Arial MT"/>
              <a:cs typeface="Arial MT"/>
            </a:endParaRPr>
          </a:p>
          <a:p>
            <a:pPr marL="12700" marR="225425">
              <a:lnSpc>
                <a:spcPct val="125000"/>
              </a:lnSpc>
            </a:pP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There</a:t>
            </a:r>
            <a:r>
              <a:rPr sz="1000" spc="7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is</a:t>
            </a:r>
            <a:r>
              <a:rPr sz="1000" spc="7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</a:t>
            </a:r>
            <a:r>
              <a:rPr sz="1000" spc="7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clear</a:t>
            </a:r>
            <a:r>
              <a:rPr sz="1000" spc="7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opportunity</a:t>
            </a:r>
            <a:r>
              <a:rPr sz="1000" spc="7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to</a:t>
            </a:r>
            <a:r>
              <a:rPr sz="1000" spc="7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use</a:t>
            </a:r>
            <a:r>
              <a:rPr sz="1000" spc="7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AI</a:t>
            </a:r>
            <a:r>
              <a:rPr sz="1000" spc="7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to</a:t>
            </a:r>
            <a:r>
              <a:rPr sz="1000" spc="7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classify,</a:t>
            </a:r>
            <a:r>
              <a:rPr sz="1000" spc="7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prioritize,</a:t>
            </a:r>
            <a:r>
              <a:rPr sz="1000" spc="7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and</a:t>
            </a:r>
            <a:r>
              <a:rPr sz="1000" spc="7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route</a:t>
            </a:r>
            <a:r>
              <a:rPr sz="1000" spc="7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civic</a:t>
            </a:r>
            <a:r>
              <a:rPr sz="1000" spc="7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complaints</a:t>
            </a:r>
            <a:r>
              <a:rPr sz="1000" spc="7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faster</a:t>
            </a:r>
            <a:r>
              <a:rPr sz="1000" spc="7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and</a:t>
            </a:r>
            <a:r>
              <a:rPr sz="1000" spc="7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1A1A1A"/>
                </a:solidFill>
                <a:latin typeface="Arial MT"/>
                <a:cs typeface="Arial MT"/>
              </a:rPr>
              <a:t>more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fairly,</a:t>
            </a:r>
            <a:r>
              <a:rPr sz="1000" spc="8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while</a:t>
            </a:r>
            <a:r>
              <a:rPr sz="1000" spc="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giving</a:t>
            </a:r>
            <a:r>
              <a:rPr sz="1000" spc="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citizens</a:t>
            </a:r>
            <a:r>
              <a:rPr sz="1000" spc="8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transparency</a:t>
            </a:r>
            <a:r>
              <a:rPr sz="1000" spc="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and</a:t>
            </a:r>
            <a:r>
              <a:rPr sz="1000" spc="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city</a:t>
            </a:r>
            <a:r>
              <a:rPr sz="1000" spc="8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planners</a:t>
            </a:r>
            <a:r>
              <a:rPr sz="1000" spc="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better</a:t>
            </a:r>
            <a:r>
              <a:rPr sz="1000" spc="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data</a:t>
            </a:r>
            <a:r>
              <a:rPr sz="1000" spc="8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to</a:t>
            </a:r>
            <a:r>
              <a:rPr sz="1000" spc="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act</a:t>
            </a:r>
            <a:r>
              <a:rPr sz="1000" spc="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spc="-25" dirty="0">
                <a:solidFill>
                  <a:srgbClr val="1A1A1A"/>
                </a:solidFill>
                <a:latin typeface="Arial MT"/>
                <a:cs typeface="Arial MT"/>
              </a:rPr>
              <a:t>on.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150" b="1" dirty="0">
                <a:solidFill>
                  <a:srgbClr val="E8753A"/>
                </a:solidFill>
                <a:latin typeface="Arial"/>
                <a:cs typeface="Arial"/>
              </a:rPr>
              <a:t>AI</a:t>
            </a:r>
            <a:r>
              <a:rPr sz="1150" b="1" spc="-25" dirty="0">
                <a:solidFill>
                  <a:srgbClr val="E8753A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E8753A"/>
                </a:solidFill>
                <a:latin typeface="Arial"/>
                <a:cs typeface="Arial"/>
              </a:rPr>
              <a:t>Solution</a:t>
            </a:r>
            <a:r>
              <a:rPr sz="1150" b="1" spc="-25" dirty="0">
                <a:solidFill>
                  <a:srgbClr val="E8753A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E8753A"/>
                </a:solidFill>
                <a:latin typeface="Arial"/>
                <a:cs typeface="Arial"/>
              </a:rPr>
              <a:t>Overview</a:t>
            </a:r>
            <a:endParaRPr sz="1150">
              <a:latin typeface="Arial"/>
              <a:cs typeface="Arial"/>
            </a:endParaRPr>
          </a:p>
          <a:p>
            <a:pPr marL="12700" marR="5080">
              <a:lnSpc>
                <a:spcPct val="125000"/>
              </a:lnSpc>
              <a:spcBef>
                <a:spcPts val="250"/>
              </a:spcBef>
            </a:pP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CityVoice</a:t>
            </a:r>
            <a:r>
              <a:rPr sz="1000" spc="7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AI</a:t>
            </a:r>
            <a:r>
              <a:rPr sz="1000" spc="7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is</a:t>
            </a:r>
            <a:r>
              <a:rPr sz="1000" spc="7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</a:t>
            </a:r>
            <a:r>
              <a:rPr sz="1000" spc="7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conversational</a:t>
            </a:r>
            <a:r>
              <a:rPr sz="1000" spc="7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assistant</a:t>
            </a:r>
            <a:r>
              <a:rPr sz="1000" spc="7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that</a:t>
            </a:r>
            <a:r>
              <a:rPr sz="1000" spc="7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lets</a:t>
            </a:r>
            <a:r>
              <a:rPr sz="1000" spc="7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citizens</a:t>
            </a:r>
            <a:r>
              <a:rPr sz="1000" spc="7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submit</a:t>
            </a:r>
            <a:r>
              <a:rPr sz="1000" spc="7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</a:t>
            </a:r>
            <a:r>
              <a:rPr sz="1000" spc="7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complaint</a:t>
            </a:r>
            <a:r>
              <a:rPr sz="1000" spc="7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as</a:t>
            </a:r>
            <a:r>
              <a:rPr sz="1000" spc="7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text</a:t>
            </a:r>
            <a:r>
              <a:rPr sz="1000" spc="7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and/or</a:t>
            </a:r>
            <a:r>
              <a:rPr sz="1000" spc="7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</a:t>
            </a:r>
            <a:r>
              <a:rPr sz="1000" spc="7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photo.</a:t>
            </a:r>
            <a:r>
              <a:rPr sz="1000" spc="7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spc="-25" dirty="0">
                <a:solidFill>
                  <a:srgbClr val="1A1A1A"/>
                </a:solidFill>
                <a:latin typeface="Arial MT"/>
                <a:cs typeface="Arial MT"/>
              </a:rPr>
              <a:t>The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system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uses</a:t>
            </a:r>
            <a:r>
              <a:rPr sz="1000" spc="10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prompt-based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classification</a:t>
            </a:r>
            <a:r>
              <a:rPr sz="1000" spc="10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to</a:t>
            </a:r>
            <a:r>
              <a:rPr sz="1000" spc="10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tag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each</a:t>
            </a:r>
            <a:r>
              <a:rPr sz="1000" spc="10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complaint</a:t>
            </a:r>
            <a:r>
              <a:rPr sz="1000" spc="10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by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category</a:t>
            </a:r>
            <a:r>
              <a:rPr sz="1000" spc="10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and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urgency,</a:t>
            </a:r>
            <a:r>
              <a:rPr sz="1000" spc="10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A1A1A"/>
                </a:solidFill>
                <a:latin typeface="Arial MT"/>
                <a:cs typeface="Arial MT"/>
              </a:rPr>
              <a:t>applies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Retrieval-Augmented</a:t>
            </a:r>
            <a:r>
              <a:rPr sz="1000" spc="14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Generation</a:t>
            </a:r>
            <a:r>
              <a:rPr sz="1000" spc="14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(RAG)</a:t>
            </a:r>
            <a:r>
              <a:rPr sz="1000" spc="14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grounded</a:t>
            </a:r>
            <a:r>
              <a:rPr sz="1000" spc="14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in</a:t>
            </a:r>
            <a:r>
              <a:rPr sz="1000" spc="14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sz="1000" spc="14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municipal</a:t>
            </a:r>
            <a:r>
              <a:rPr sz="1000" spc="14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corporation's</a:t>
            </a:r>
            <a:r>
              <a:rPr sz="1000" spc="14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published</a:t>
            </a:r>
            <a:r>
              <a:rPr sz="1000" spc="14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service-</a:t>
            </a:r>
            <a:r>
              <a:rPr sz="1000" spc="-10" dirty="0">
                <a:solidFill>
                  <a:srgbClr val="1A1A1A"/>
                </a:solidFill>
                <a:latin typeface="Arial MT"/>
                <a:cs typeface="Arial MT"/>
              </a:rPr>
              <a:t>level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policies</a:t>
            </a:r>
            <a:r>
              <a:rPr sz="10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to</a:t>
            </a:r>
            <a:r>
              <a:rPr sz="10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determine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sz="10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correct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department</a:t>
            </a:r>
            <a:r>
              <a:rPr sz="10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and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expected</a:t>
            </a:r>
            <a:r>
              <a:rPr sz="10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resolution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timeline,</a:t>
            </a:r>
            <a:r>
              <a:rPr sz="10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and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runs</a:t>
            </a:r>
            <a:r>
              <a:rPr sz="10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A1A1A"/>
                </a:solidFill>
                <a:latin typeface="Arial MT"/>
                <a:cs typeface="Arial MT"/>
              </a:rPr>
              <a:t>lightweight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agentic</a:t>
            </a:r>
            <a:r>
              <a:rPr sz="10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workflow</a:t>
            </a:r>
            <a:r>
              <a:rPr sz="10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that</a:t>
            </a:r>
            <a:r>
              <a:rPr sz="10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routes</a:t>
            </a:r>
            <a:r>
              <a:rPr sz="10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sz="10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ticket</a:t>
            </a:r>
            <a:r>
              <a:rPr sz="10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and</a:t>
            </a:r>
            <a:r>
              <a:rPr sz="10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drafts</a:t>
            </a:r>
            <a:r>
              <a:rPr sz="10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an</a:t>
            </a:r>
            <a:r>
              <a:rPr sz="10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acknowledgment</a:t>
            </a:r>
            <a:r>
              <a:rPr sz="10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message</a:t>
            </a:r>
            <a:r>
              <a:rPr sz="10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with</a:t>
            </a:r>
            <a:r>
              <a:rPr sz="10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tracking</a:t>
            </a:r>
            <a:r>
              <a:rPr sz="10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spc="-25" dirty="0">
                <a:solidFill>
                  <a:srgbClr val="1A1A1A"/>
                </a:solidFill>
                <a:latin typeface="Arial MT"/>
                <a:cs typeface="Arial MT"/>
              </a:rPr>
              <a:t>ID.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Aggregated</a:t>
            </a:r>
            <a:r>
              <a:rPr sz="1000" spc="8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complaint</a:t>
            </a:r>
            <a:r>
              <a:rPr sz="1000" spc="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data</a:t>
            </a:r>
            <a:r>
              <a:rPr sz="1000" spc="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feeds</a:t>
            </a:r>
            <a:r>
              <a:rPr sz="1000" spc="8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</a:t>
            </a:r>
            <a:r>
              <a:rPr sz="1000" spc="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simple</a:t>
            </a:r>
            <a:r>
              <a:rPr sz="1000" spc="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dashboard</a:t>
            </a:r>
            <a:r>
              <a:rPr sz="1000" spc="8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so</a:t>
            </a:r>
            <a:r>
              <a:rPr sz="1000" spc="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ward</a:t>
            </a:r>
            <a:r>
              <a:rPr sz="1000" spc="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officials</a:t>
            </a:r>
            <a:r>
              <a:rPr sz="1000" spc="8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can</a:t>
            </a:r>
            <a:r>
              <a:rPr sz="1000" spc="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see</a:t>
            </a:r>
            <a:r>
              <a:rPr sz="1000" spc="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hotspots</a:t>
            </a:r>
            <a:r>
              <a:rPr sz="1000" spc="8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by</a:t>
            </a:r>
            <a:r>
              <a:rPr sz="1000" spc="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area</a:t>
            </a:r>
            <a:r>
              <a:rPr sz="1000" spc="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spc="-25" dirty="0">
                <a:solidFill>
                  <a:srgbClr val="1A1A1A"/>
                </a:solidFill>
                <a:latin typeface="Arial MT"/>
                <a:cs typeface="Arial MT"/>
              </a:rPr>
              <a:t>and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category</a:t>
            </a:r>
            <a:r>
              <a:rPr sz="1000" spc="12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and</a:t>
            </a:r>
            <a:r>
              <a:rPr sz="1000" spc="12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prioritize</a:t>
            </a:r>
            <a:r>
              <a:rPr sz="1000" spc="12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infrastructure</a:t>
            </a:r>
            <a:r>
              <a:rPr sz="1000" spc="12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spending</a:t>
            </a:r>
            <a:r>
              <a:rPr sz="1000" spc="12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A1A1A"/>
                </a:solidFill>
                <a:latin typeface="Arial MT"/>
                <a:cs typeface="Arial MT"/>
              </a:rPr>
              <a:t>accordingly.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150" b="1" dirty="0">
                <a:solidFill>
                  <a:srgbClr val="E8753A"/>
                </a:solidFill>
                <a:latin typeface="Arial"/>
                <a:cs typeface="Arial"/>
              </a:rPr>
              <a:t>Target </a:t>
            </a:r>
            <a:r>
              <a:rPr sz="1150" b="1" spc="-10" dirty="0">
                <a:solidFill>
                  <a:srgbClr val="E8753A"/>
                </a:solidFill>
                <a:latin typeface="Arial"/>
                <a:cs typeface="Arial"/>
              </a:rPr>
              <a:t>Users</a:t>
            </a:r>
            <a:endParaRPr sz="11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0739" y="6469379"/>
            <a:ext cx="10160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E8753A"/>
                </a:solidFill>
                <a:latin typeface="MS Gothic"/>
                <a:cs typeface="MS Gothic"/>
              </a:rPr>
              <a:t>●</a:t>
            </a:r>
            <a:endParaRPr sz="600">
              <a:latin typeface="MS Gothic"/>
              <a:cs typeface="MS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70939" y="6435852"/>
            <a:ext cx="5587365" cy="7874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90"/>
              </a:spcBef>
            </a:pP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Citizens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and</a:t>
            </a:r>
            <a:r>
              <a:rPr sz="10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residents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reporting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civic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issues,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including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those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less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comfortable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with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formal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A1A1A"/>
                </a:solidFill>
                <a:latin typeface="Arial MT"/>
                <a:cs typeface="Arial MT"/>
              </a:rPr>
              <a:t>written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complaint</a:t>
            </a:r>
            <a:r>
              <a:rPr sz="1000" spc="13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A1A1A"/>
                </a:solidFill>
                <a:latin typeface="Arial MT"/>
                <a:cs typeface="Arial MT"/>
              </a:rPr>
              <a:t>processes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Municipal</a:t>
            </a:r>
            <a:r>
              <a:rPr sz="1000" spc="12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corporation</a:t>
            </a:r>
            <a:r>
              <a:rPr sz="1000" spc="12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grievance</a:t>
            </a:r>
            <a:r>
              <a:rPr sz="1000" spc="12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redressal</a:t>
            </a:r>
            <a:r>
              <a:rPr sz="1000" spc="12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officers</a:t>
            </a:r>
            <a:r>
              <a:rPr sz="1000" spc="12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and</a:t>
            </a:r>
            <a:r>
              <a:rPr sz="1000" spc="12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A1A1A"/>
                </a:solidFill>
                <a:latin typeface="Arial MT"/>
                <a:cs typeface="Arial MT"/>
              </a:rPr>
              <a:t>staff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Ward-level</a:t>
            </a:r>
            <a:r>
              <a:rPr sz="1000" spc="11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city</a:t>
            </a:r>
            <a:r>
              <a:rPr sz="1000" spc="11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planners</a:t>
            </a:r>
            <a:r>
              <a:rPr sz="1000" spc="11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and</a:t>
            </a:r>
            <a:r>
              <a:rPr sz="1000" spc="11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administrators</a:t>
            </a:r>
            <a:r>
              <a:rPr sz="1000" spc="11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deciding</a:t>
            </a:r>
            <a:r>
              <a:rPr sz="1000" spc="114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where</a:t>
            </a:r>
            <a:r>
              <a:rPr sz="1000" spc="11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to</a:t>
            </a:r>
            <a:r>
              <a:rPr sz="1000" spc="11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allocate</a:t>
            </a:r>
            <a:r>
              <a:rPr sz="1000" spc="11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infrastructure</a:t>
            </a:r>
            <a:r>
              <a:rPr sz="1000" spc="11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A1A1A"/>
                </a:solidFill>
                <a:latin typeface="Arial MT"/>
                <a:cs typeface="Arial MT"/>
              </a:rPr>
              <a:t>budgets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0739" y="6850380"/>
            <a:ext cx="10160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E8753A"/>
                </a:solidFill>
                <a:latin typeface="MS Gothic"/>
                <a:cs typeface="MS Gothic"/>
              </a:rPr>
              <a:t>●</a:t>
            </a:r>
            <a:endParaRPr sz="600">
              <a:latin typeface="MS Gothic"/>
              <a:cs typeface="MS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0739" y="7040880"/>
            <a:ext cx="10160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E8753A"/>
                </a:solidFill>
                <a:latin typeface="MS Gothic"/>
                <a:cs typeface="MS Gothic"/>
              </a:rPr>
              <a:t>●</a:t>
            </a:r>
            <a:endParaRPr sz="600">
              <a:latin typeface="MS Gothic"/>
              <a:cs typeface="MS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0739" y="7358380"/>
            <a:ext cx="2184400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dirty="0">
                <a:solidFill>
                  <a:srgbClr val="E8753A"/>
                </a:solidFill>
                <a:latin typeface="Arial"/>
                <a:cs typeface="Arial"/>
              </a:rPr>
              <a:t>Responsible AI </a:t>
            </a:r>
            <a:r>
              <a:rPr sz="1150" b="1" spc="-10" dirty="0">
                <a:solidFill>
                  <a:srgbClr val="E8753A"/>
                </a:solidFill>
                <a:latin typeface="Arial"/>
                <a:cs typeface="Arial"/>
              </a:rPr>
              <a:t>Considerations</a:t>
            </a:r>
            <a:endParaRPr sz="11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0739" y="7599680"/>
            <a:ext cx="10160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E8753A"/>
                </a:solidFill>
                <a:latin typeface="MS Gothic"/>
                <a:cs typeface="MS Gothic"/>
              </a:rPr>
              <a:t>●</a:t>
            </a:r>
            <a:endParaRPr sz="600">
              <a:latin typeface="MS Gothic"/>
              <a:cs typeface="MS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70939" y="7566152"/>
            <a:ext cx="5733415" cy="15494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33655">
              <a:lnSpc>
                <a:spcPct val="125000"/>
              </a:lnSpc>
              <a:spcBef>
                <a:spcPts val="90"/>
              </a:spcBef>
            </a:pPr>
            <a:r>
              <a:rPr sz="1000" b="1" dirty="0">
                <a:solidFill>
                  <a:srgbClr val="1A1A1A"/>
                </a:solidFill>
                <a:latin typeface="Arial"/>
                <a:cs typeface="Arial"/>
              </a:rPr>
              <a:t>Fairness:</a:t>
            </a:r>
            <a:r>
              <a:rPr sz="1000" b="1" spc="95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Test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classification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across</a:t>
            </a:r>
            <a:r>
              <a:rPr sz="1000" spc="10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varied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phrasing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and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dialects</a:t>
            </a:r>
            <a:r>
              <a:rPr sz="1000" spc="10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so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no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neighborhood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or</a:t>
            </a:r>
            <a:r>
              <a:rPr sz="1000" spc="10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A1A1A"/>
                </a:solidFill>
                <a:latin typeface="Arial MT"/>
                <a:cs typeface="Arial MT"/>
              </a:rPr>
              <a:t>complaint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style</a:t>
            </a:r>
            <a:r>
              <a:rPr sz="10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is</a:t>
            </a:r>
            <a:r>
              <a:rPr sz="10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systematically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A1A1A"/>
                </a:solidFill>
                <a:latin typeface="Arial MT"/>
                <a:cs typeface="Arial MT"/>
              </a:rPr>
              <a:t>deprioritized.</a:t>
            </a:r>
            <a:endParaRPr sz="1000">
              <a:latin typeface="Arial MT"/>
              <a:cs typeface="Arial MT"/>
            </a:endParaRPr>
          </a:p>
          <a:p>
            <a:pPr marL="12700" marR="201295">
              <a:lnSpc>
                <a:spcPct val="125000"/>
              </a:lnSpc>
            </a:pPr>
            <a:r>
              <a:rPr sz="1000" b="1" dirty="0">
                <a:solidFill>
                  <a:srgbClr val="1A1A1A"/>
                </a:solidFill>
                <a:latin typeface="Arial"/>
                <a:cs typeface="Arial"/>
              </a:rPr>
              <a:t>Transparency:</a:t>
            </a:r>
            <a:r>
              <a:rPr sz="1000" b="1" spc="85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Citizens</a:t>
            </a:r>
            <a:r>
              <a:rPr sz="10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are</a:t>
            </a:r>
            <a:r>
              <a:rPr sz="1000" spc="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informed</a:t>
            </a:r>
            <a:r>
              <a:rPr sz="10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their</a:t>
            </a:r>
            <a:r>
              <a:rPr sz="1000" spc="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complaint</a:t>
            </a:r>
            <a:r>
              <a:rPr sz="10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was</a:t>
            </a:r>
            <a:r>
              <a:rPr sz="1000" spc="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triaged</a:t>
            </a:r>
            <a:r>
              <a:rPr sz="10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by</a:t>
            </a:r>
            <a:r>
              <a:rPr sz="1000" spc="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AI</a:t>
            </a:r>
            <a:r>
              <a:rPr sz="10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and</a:t>
            </a:r>
            <a:r>
              <a:rPr sz="1000" spc="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can</a:t>
            </a:r>
            <a:r>
              <a:rPr sz="10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request</a:t>
            </a:r>
            <a:r>
              <a:rPr sz="10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A1A1A"/>
                </a:solidFill>
                <a:latin typeface="Arial MT"/>
                <a:cs typeface="Arial MT"/>
              </a:rPr>
              <a:t>human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review</a:t>
            </a:r>
            <a:r>
              <a:rPr sz="1000" spc="6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at</a:t>
            </a:r>
            <a:r>
              <a:rPr sz="1000" spc="6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any</a:t>
            </a:r>
            <a:r>
              <a:rPr sz="1000" spc="6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A1A1A"/>
                </a:solidFill>
                <a:latin typeface="Arial MT"/>
                <a:cs typeface="Arial MT"/>
              </a:rPr>
              <a:t>point.</a:t>
            </a:r>
            <a:endParaRPr sz="1000">
              <a:latin typeface="Arial MT"/>
              <a:cs typeface="Arial MT"/>
            </a:endParaRPr>
          </a:p>
          <a:p>
            <a:pPr marL="12700" marR="5080">
              <a:lnSpc>
                <a:spcPct val="125000"/>
              </a:lnSpc>
            </a:pPr>
            <a:r>
              <a:rPr sz="1000" b="1" dirty="0">
                <a:solidFill>
                  <a:srgbClr val="1A1A1A"/>
                </a:solidFill>
                <a:latin typeface="Arial"/>
                <a:cs typeface="Arial"/>
              </a:rPr>
              <a:t>Ethics:</a:t>
            </a:r>
            <a:r>
              <a:rPr sz="1000" b="1" spc="85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AI-generated</a:t>
            </a:r>
            <a:r>
              <a:rPr sz="1000" spc="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routing</a:t>
            </a:r>
            <a:r>
              <a:rPr sz="1000" spc="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is</a:t>
            </a:r>
            <a:r>
              <a:rPr sz="10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advisory</a:t>
            </a:r>
            <a:r>
              <a:rPr sz="1000" spc="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to</a:t>
            </a:r>
            <a:r>
              <a:rPr sz="1000" spc="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municipal</a:t>
            </a:r>
            <a:r>
              <a:rPr sz="1000" spc="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staff,</a:t>
            </a:r>
            <a:r>
              <a:rPr sz="10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not</a:t>
            </a:r>
            <a:r>
              <a:rPr sz="1000" spc="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</a:t>
            </a:r>
            <a:r>
              <a:rPr sz="1000" spc="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final</a:t>
            </a:r>
            <a:r>
              <a:rPr sz="1000" spc="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automated</a:t>
            </a:r>
            <a:r>
              <a:rPr sz="10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decision</a:t>
            </a:r>
            <a:r>
              <a:rPr sz="1000" spc="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on</a:t>
            </a:r>
            <a:r>
              <a:rPr sz="1000" spc="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A1A1A"/>
                </a:solidFill>
                <a:latin typeface="Arial MT"/>
                <a:cs typeface="Arial MT"/>
              </a:rPr>
              <a:t>public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services;</a:t>
            </a:r>
            <a:r>
              <a:rPr sz="1000" spc="11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no</a:t>
            </a:r>
            <a:r>
              <a:rPr sz="1000" spc="114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discriminatory</a:t>
            </a:r>
            <a:r>
              <a:rPr sz="1000" spc="114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routing</a:t>
            </a:r>
            <a:r>
              <a:rPr sz="1000" spc="114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A1A1A"/>
                </a:solidFill>
                <a:latin typeface="Arial MT"/>
                <a:cs typeface="Arial MT"/>
              </a:rPr>
              <a:t>logic.</a:t>
            </a:r>
            <a:endParaRPr sz="1000">
              <a:latin typeface="Arial MT"/>
              <a:cs typeface="Arial MT"/>
            </a:endParaRPr>
          </a:p>
          <a:p>
            <a:pPr marL="12700" marR="331470">
              <a:lnSpc>
                <a:spcPct val="125000"/>
              </a:lnSpc>
            </a:pPr>
            <a:r>
              <a:rPr sz="1000" b="1" dirty="0">
                <a:solidFill>
                  <a:srgbClr val="1A1A1A"/>
                </a:solidFill>
                <a:latin typeface="Arial"/>
                <a:cs typeface="Arial"/>
              </a:rPr>
              <a:t>Privacy:</a:t>
            </a:r>
            <a:r>
              <a:rPr sz="1000" b="1" spc="95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Complaint</a:t>
            </a:r>
            <a:r>
              <a:rPr sz="1000" spc="10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photos/text</a:t>
            </a:r>
            <a:r>
              <a:rPr sz="1000" spc="10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are</a:t>
            </a:r>
            <a:r>
              <a:rPr sz="1000" spc="10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used</a:t>
            </a:r>
            <a:r>
              <a:rPr sz="1000" spc="10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only</a:t>
            </a:r>
            <a:r>
              <a:rPr sz="1000" spc="10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for</a:t>
            </a:r>
            <a:r>
              <a:rPr sz="1000" spc="10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resolution;</a:t>
            </a:r>
            <a:r>
              <a:rPr sz="1000" spc="10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no</a:t>
            </a:r>
            <a:r>
              <a:rPr sz="1000" spc="10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unnecessary</a:t>
            </a:r>
            <a:r>
              <a:rPr sz="1000" spc="10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personal</a:t>
            </a:r>
            <a:r>
              <a:rPr sz="1000" spc="10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data</a:t>
            </a:r>
            <a:r>
              <a:rPr sz="1000" spc="10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spc="-25" dirty="0">
                <a:solidFill>
                  <a:srgbClr val="1A1A1A"/>
                </a:solidFill>
                <a:latin typeface="Arial MT"/>
                <a:cs typeface="Arial MT"/>
              </a:rPr>
              <a:t>is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stored</a:t>
            </a:r>
            <a:r>
              <a:rPr sz="1000" spc="5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or</a:t>
            </a:r>
            <a:r>
              <a:rPr sz="1000" spc="6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A1A1A"/>
                </a:solidFill>
                <a:latin typeface="Arial MT"/>
                <a:cs typeface="Arial MT"/>
              </a:rPr>
              <a:t>reused.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40739" y="7980680"/>
            <a:ext cx="10160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E8753A"/>
                </a:solidFill>
                <a:latin typeface="MS Gothic"/>
                <a:cs typeface="MS Gothic"/>
              </a:rPr>
              <a:t>●</a:t>
            </a:r>
            <a:endParaRPr sz="600">
              <a:latin typeface="MS Gothic"/>
              <a:cs typeface="MS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40739" y="8361680"/>
            <a:ext cx="10160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E8753A"/>
                </a:solidFill>
                <a:latin typeface="MS Gothic"/>
                <a:cs typeface="MS Gothic"/>
              </a:rPr>
              <a:t>●</a:t>
            </a:r>
            <a:endParaRPr sz="600">
              <a:latin typeface="MS Gothic"/>
              <a:cs typeface="MS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40739" y="8742680"/>
            <a:ext cx="10160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E8753A"/>
                </a:solidFill>
                <a:latin typeface="MS Gothic"/>
                <a:cs typeface="MS Gothic"/>
              </a:rPr>
              <a:t>●</a:t>
            </a:r>
            <a:endParaRPr sz="600">
              <a:latin typeface="MS Gothic"/>
              <a:cs typeface="MS Gothic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0739" y="703580"/>
            <a:ext cx="1186180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dirty="0">
                <a:solidFill>
                  <a:srgbClr val="E8753A"/>
                </a:solidFill>
                <a:latin typeface="Arial"/>
                <a:cs typeface="Arial"/>
              </a:rPr>
              <a:t>Expected </a:t>
            </a:r>
            <a:r>
              <a:rPr sz="1150" b="1" spc="-10" dirty="0">
                <a:solidFill>
                  <a:srgbClr val="E8753A"/>
                </a:solidFill>
                <a:latin typeface="Arial"/>
                <a:cs typeface="Arial"/>
              </a:rPr>
              <a:t>Impact</a:t>
            </a:r>
            <a:endParaRPr sz="11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0739" y="944880"/>
            <a:ext cx="10160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E8753A"/>
                </a:solidFill>
                <a:latin typeface="MS Gothic"/>
                <a:cs typeface="MS Gothic"/>
              </a:rPr>
              <a:t>●</a:t>
            </a:r>
            <a:endParaRPr sz="600">
              <a:latin typeface="MS Gothic"/>
              <a:cs typeface="MS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70939" y="911352"/>
            <a:ext cx="5594350" cy="1358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6730">
              <a:lnSpc>
                <a:spcPct val="125000"/>
              </a:lnSpc>
              <a:spcBef>
                <a:spcPts val="95"/>
              </a:spcBef>
            </a:pP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Faster</a:t>
            </a:r>
            <a:r>
              <a:rPr sz="1000" spc="11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first-response</a:t>
            </a:r>
            <a:r>
              <a:rPr sz="1000" spc="114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and</a:t>
            </a:r>
            <a:r>
              <a:rPr sz="1000" spc="11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resolution</a:t>
            </a:r>
            <a:r>
              <a:rPr sz="1000" spc="114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times</a:t>
            </a:r>
            <a:r>
              <a:rPr sz="1000" spc="114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through</a:t>
            </a:r>
            <a:r>
              <a:rPr sz="1000" spc="11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automatic</a:t>
            </a:r>
            <a:r>
              <a:rPr sz="1000" spc="114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routing</a:t>
            </a:r>
            <a:r>
              <a:rPr sz="1000" spc="114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and</a:t>
            </a:r>
            <a:r>
              <a:rPr sz="1000" spc="11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prioritization</a:t>
            </a:r>
            <a:r>
              <a:rPr sz="1000" spc="114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spc="-25" dirty="0">
                <a:solidFill>
                  <a:srgbClr val="1A1A1A"/>
                </a:solidFill>
                <a:latin typeface="Arial MT"/>
                <a:cs typeface="Arial MT"/>
              </a:rPr>
              <a:t>of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safety-critical</a:t>
            </a:r>
            <a:r>
              <a:rPr sz="1000" spc="17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A1A1A"/>
                </a:solidFill>
                <a:latin typeface="Arial MT"/>
                <a:cs typeface="Arial MT"/>
              </a:rPr>
              <a:t>issues</a:t>
            </a:r>
            <a:endParaRPr sz="1000">
              <a:latin typeface="Arial MT"/>
              <a:cs typeface="Arial MT"/>
            </a:endParaRPr>
          </a:p>
          <a:p>
            <a:pPr marL="12700" marR="605155">
              <a:lnSpc>
                <a:spcPct val="125000"/>
              </a:lnSpc>
            </a:pP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Increased</a:t>
            </a:r>
            <a:r>
              <a:rPr sz="1000" spc="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citizen</a:t>
            </a:r>
            <a:r>
              <a:rPr sz="10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trust</a:t>
            </a:r>
            <a:r>
              <a:rPr sz="10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via</a:t>
            </a:r>
            <a:r>
              <a:rPr sz="10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transparent</a:t>
            </a:r>
            <a:r>
              <a:rPr sz="10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status</a:t>
            </a:r>
            <a:r>
              <a:rPr sz="1000" spc="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tracking</a:t>
            </a:r>
            <a:r>
              <a:rPr sz="10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(tracking</a:t>
            </a:r>
            <a:r>
              <a:rPr sz="10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ID</a:t>
            </a:r>
            <a:r>
              <a:rPr sz="10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+</a:t>
            </a:r>
            <a:r>
              <a:rPr sz="10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expected</a:t>
            </a:r>
            <a:r>
              <a:rPr sz="1000" spc="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A1A1A"/>
                </a:solidFill>
                <a:latin typeface="Arial MT"/>
                <a:cs typeface="Arial MT"/>
              </a:rPr>
              <a:t>timeline)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Reduced</a:t>
            </a:r>
            <a:r>
              <a:rPr sz="1000" spc="10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duplicate</a:t>
            </a:r>
            <a:r>
              <a:rPr sz="1000" spc="11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and</a:t>
            </a:r>
            <a:r>
              <a:rPr sz="1000" spc="11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misrouted</a:t>
            </a:r>
            <a:r>
              <a:rPr sz="1000" spc="11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complaints,</a:t>
            </a:r>
            <a:r>
              <a:rPr sz="1000" spc="11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saving</a:t>
            </a:r>
            <a:r>
              <a:rPr sz="1000" spc="11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staff</a:t>
            </a:r>
            <a:r>
              <a:rPr sz="1000" spc="10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1A1A1A"/>
                </a:solidFill>
                <a:latin typeface="Arial MT"/>
                <a:cs typeface="Arial MT"/>
              </a:rPr>
              <a:t>time</a:t>
            </a:r>
            <a:endParaRPr sz="1000">
              <a:latin typeface="Arial MT"/>
              <a:cs typeface="Arial MT"/>
            </a:endParaRPr>
          </a:p>
          <a:p>
            <a:pPr marL="12700" marR="207645">
              <a:lnSpc>
                <a:spcPct val="125000"/>
              </a:lnSpc>
            </a:pP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Data-driven</a:t>
            </a:r>
            <a:r>
              <a:rPr sz="1000" spc="11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infrastructure</a:t>
            </a:r>
            <a:r>
              <a:rPr sz="1000" spc="114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planning</a:t>
            </a:r>
            <a:r>
              <a:rPr sz="1000" spc="114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as</a:t>
            </a:r>
            <a:r>
              <a:rPr sz="1000" spc="114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officials</a:t>
            </a:r>
            <a:r>
              <a:rPr sz="1000" spc="114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see</a:t>
            </a:r>
            <a:r>
              <a:rPr sz="1000" spc="11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which</a:t>
            </a:r>
            <a:r>
              <a:rPr sz="1000" spc="114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categories/areas</a:t>
            </a:r>
            <a:r>
              <a:rPr sz="1000" spc="114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generate</a:t>
            </a:r>
            <a:r>
              <a:rPr sz="1000" spc="114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sz="1000" spc="114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1A1A1A"/>
                </a:solidFill>
                <a:latin typeface="Arial MT"/>
                <a:cs typeface="Arial MT"/>
              </a:rPr>
              <a:t>most </a:t>
            </a:r>
            <a:r>
              <a:rPr sz="1000" spc="-10" dirty="0">
                <a:solidFill>
                  <a:srgbClr val="1A1A1A"/>
                </a:solidFill>
                <a:latin typeface="Arial MT"/>
                <a:cs typeface="Arial MT"/>
              </a:rPr>
              <a:t>complaints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More</a:t>
            </a:r>
            <a:r>
              <a:rPr sz="1000" spc="7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inclusive</a:t>
            </a:r>
            <a:r>
              <a:rPr sz="1000" spc="8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access</a:t>
            </a:r>
            <a:r>
              <a:rPr sz="1000" spc="7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for</a:t>
            </a:r>
            <a:r>
              <a:rPr sz="1000" spc="8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citizens</a:t>
            </a:r>
            <a:r>
              <a:rPr sz="1000" spc="8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who</a:t>
            </a:r>
            <a:r>
              <a:rPr sz="1000" spc="7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prefer</a:t>
            </a:r>
            <a:r>
              <a:rPr sz="1000" spc="8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photo</a:t>
            </a:r>
            <a:r>
              <a:rPr sz="1000" spc="8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or</a:t>
            </a:r>
            <a:r>
              <a:rPr sz="1000" spc="7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simple</a:t>
            </a:r>
            <a:r>
              <a:rPr sz="1000" spc="8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text</a:t>
            </a:r>
            <a:r>
              <a:rPr sz="1000" spc="7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input</a:t>
            </a:r>
            <a:r>
              <a:rPr sz="1000" spc="8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over</a:t>
            </a:r>
            <a:r>
              <a:rPr sz="1000" spc="8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formal</a:t>
            </a:r>
            <a:r>
              <a:rPr sz="1000" spc="7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written</a:t>
            </a:r>
            <a:r>
              <a:rPr sz="1000" spc="8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A1A1A"/>
                </a:solidFill>
                <a:latin typeface="Arial MT"/>
                <a:cs typeface="Arial MT"/>
              </a:rPr>
              <a:t>forms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0739" y="1325880"/>
            <a:ext cx="10160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E8753A"/>
                </a:solidFill>
                <a:latin typeface="MS Gothic"/>
                <a:cs typeface="MS Gothic"/>
              </a:rPr>
              <a:t>●</a:t>
            </a:r>
            <a:endParaRPr sz="600">
              <a:latin typeface="MS Gothic"/>
              <a:cs typeface="MS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0739" y="1516380"/>
            <a:ext cx="10160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E8753A"/>
                </a:solidFill>
                <a:latin typeface="MS Gothic"/>
                <a:cs typeface="MS Gothic"/>
              </a:rPr>
              <a:t>●</a:t>
            </a:r>
            <a:endParaRPr sz="600">
              <a:latin typeface="MS Gothic"/>
              <a:cs typeface="MS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0739" y="1706880"/>
            <a:ext cx="10160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E8753A"/>
                </a:solidFill>
                <a:latin typeface="MS Gothic"/>
                <a:cs typeface="MS Gothic"/>
              </a:rPr>
              <a:t>●</a:t>
            </a:r>
            <a:endParaRPr sz="600">
              <a:latin typeface="MS Gothic"/>
              <a:cs typeface="MS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0739" y="2087880"/>
            <a:ext cx="10160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E8753A"/>
                </a:solidFill>
                <a:latin typeface="MS Gothic"/>
                <a:cs typeface="MS Gothic"/>
              </a:rPr>
              <a:t>●</a:t>
            </a:r>
            <a:endParaRPr sz="600">
              <a:latin typeface="MS Gothic"/>
              <a:cs typeface="MS Gothic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0739" y="703580"/>
            <a:ext cx="6009640" cy="703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b="1" dirty="0">
                <a:solidFill>
                  <a:srgbClr val="1F5B4D"/>
                </a:solidFill>
                <a:latin typeface="Arial"/>
                <a:cs typeface="Arial"/>
              </a:rPr>
              <a:t>2.</a:t>
            </a:r>
            <a:r>
              <a:rPr sz="1450" b="1" spc="-35" dirty="0">
                <a:solidFill>
                  <a:srgbClr val="1F5B4D"/>
                </a:solidFill>
                <a:latin typeface="Arial"/>
                <a:cs typeface="Arial"/>
              </a:rPr>
              <a:t> </a:t>
            </a:r>
            <a:r>
              <a:rPr sz="1450" b="1" dirty="0">
                <a:solidFill>
                  <a:srgbClr val="1F5B4D"/>
                </a:solidFill>
                <a:latin typeface="Arial"/>
                <a:cs typeface="Arial"/>
              </a:rPr>
              <a:t>Prototype</a:t>
            </a:r>
            <a:r>
              <a:rPr sz="1450" b="1" spc="-30" dirty="0">
                <a:solidFill>
                  <a:srgbClr val="1F5B4D"/>
                </a:solidFill>
                <a:latin typeface="Arial"/>
                <a:cs typeface="Arial"/>
              </a:rPr>
              <a:t> </a:t>
            </a:r>
            <a:r>
              <a:rPr sz="1450" b="1" dirty="0">
                <a:solidFill>
                  <a:srgbClr val="1F5B4D"/>
                </a:solidFill>
                <a:latin typeface="Arial"/>
                <a:cs typeface="Arial"/>
              </a:rPr>
              <a:t>/</a:t>
            </a:r>
            <a:r>
              <a:rPr sz="1450" b="1" spc="-30" dirty="0">
                <a:solidFill>
                  <a:srgbClr val="1F5B4D"/>
                </a:solidFill>
                <a:latin typeface="Arial"/>
                <a:cs typeface="Arial"/>
              </a:rPr>
              <a:t> </a:t>
            </a:r>
            <a:r>
              <a:rPr sz="1450" b="1" dirty="0">
                <a:solidFill>
                  <a:srgbClr val="1F5B4D"/>
                </a:solidFill>
                <a:latin typeface="Arial"/>
                <a:cs typeface="Arial"/>
              </a:rPr>
              <a:t>Demo</a:t>
            </a:r>
            <a:r>
              <a:rPr sz="1450" b="1" spc="-30" dirty="0">
                <a:solidFill>
                  <a:srgbClr val="1F5B4D"/>
                </a:solidFill>
                <a:latin typeface="Arial"/>
                <a:cs typeface="Arial"/>
              </a:rPr>
              <a:t> </a:t>
            </a:r>
            <a:r>
              <a:rPr sz="1450" b="1" dirty="0">
                <a:solidFill>
                  <a:srgbClr val="1F5B4D"/>
                </a:solidFill>
                <a:latin typeface="Arial"/>
                <a:cs typeface="Arial"/>
              </a:rPr>
              <a:t>—</a:t>
            </a:r>
            <a:r>
              <a:rPr sz="1450" b="1" spc="-30" dirty="0">
                <a:solidFill>
                  <a:srgbClr val="1F5B4D"/>
                </a:solidFill>
                <a:latin typeface="Arial"/>
                <a:cs typeface="Arial"/>
              </a:rPr>
              <a:t> </a:t>
            </a:r>
            <a:r>
              <a:rPr sz="1450" b="1" dirty="0">
                <a:solidFill>
                  <a:srgbClr val="1F5B4D"/>
                </a:solidFill>
                <a:latin typeface="Arial"/>
                <a:cs typeface="Arial"/>
              </a:rPr>
              <a:t>Workflow</a:t>
            </a:r>
            <a:r>
              <a:rPr sz="1450" b="1" spc="-35" dirty="0">
                <a:solidFill>
                  <a:srgbClr val="1F5B4D"/>
                </a:solidFill>
                <a:latin typeface="Arial"/>
                <a:cs typeface="Arial"/>
              </a:rPr>
              <a:t> </a:t>
            </a:r>
            <a:r>
              <a:rPr sz="1450" b="1" spc="-10" dirty="0">
                <a:solidFill>
                  <a:srgbClr val="1F5B4D"/>
                </a:solidFill>
                <a:latin typeface="Arial"/>
                <a:cs typeface="Arial"/>
              </a:rPr>
              <a:t>Diagram</a:t>
            </a:r>
            <a:endParaRPr sz="1450">
              <a:latin typeface="Arial"/>
              <a:cs typeface="Arial"/>
            </a:endParaRPr>
          </a:p>
          <a:p>
            <a:pPr marL="12700" marR="5080">
              <a:lnSpc>
                <a:spcPct val="125000"/>
              </a:lnSpc>
              <a:spcBef>
                <a:spcPts val="590"/>
              </a:spcBef>
            </a:pP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sz="10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prototype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is</a:t>
            </a:r>
            <a:r>
              <a:rPr sz="10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prompt-based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/</a:t>
            </a:r>
            <a:r>
              <a:rPr sz="10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no-code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workflow</a:t>
            </a:r>
            <a:r>
              <a:rPr sz="10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(no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advanced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coding</a:t>
            </a:r>
            <a:r>
              <a:rPr sz="10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required),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demonstrated</a:t>
            </a:r>
            <a:r>
              <a:rPr sz="10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as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spc="-50" dirty="0">
                <a:solidFill>
                  <a:srgbClr val="1A1A1A"/>
                </a:solidFill>
                <a:latin typeface="Arial MT"/>
                <a:cs typeface="Arial MT"/>
              </a:rPr>
              <a:t>a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chained</a:t>
            </a:r>
            <a:r>
              <a:rPr sz="1000" spc="7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AI</a:t>
            </a:r>
            <a:r>
              <a:rPr sz="1000" spc="7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A1A1A"/>
                </a:solidFill>
                <a:latin typeface="Arial MT"/>
                <a:cs typeface="Arial MT"/>
              </a:rPr>
              <a:t>process: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8839" y="2265679"/>
            <a:ext cx="1117600" cy="736600"/>
          </a:xfrm>
          <a:custGeom>
            <a:avLst/>
            <a:gdLst/>
            <a:ahLst/>
            <a:cxnLst/>
            <a:rect l="l" t="t" r="r" b="b"/>
            <a:pathLst>
              <a:path w="1117600" h="736600">
                <a:moveTo>
                  <a:pt x="1016000" y="0"/>
                </a:move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635000"/>
                </a:lnTo>
                <a:lnTo>
                  <a:pt x="7976" y="674569"/>
                </a:lnTo>
                <a:lnTo>
                  <a:pt x="29738" y="706861"/>
                </a:lnTo>
                <a:lnTo>
                  <a:pt x="62030" y="728623"/>
                </a:lnTo>
                <a:lnTo>
                  <a:pt x="101600" y="736600"/>
                </a:lnTo>
                <a:lnTo>
                  <a:pt x="1016000" y="736600"/>
                </a:lnTo>
                <a:lnTo>
                  <a:pt x="1055569" y="728623"/>
                </a:lnTo>
                <a:lnTo>
                  <a:pt x="1087861" y="706861"/>
                </a:lnTo>
                <a:lnTo>
                  <a:pt x="1109623" y="674569"/>
                </a:lnTo>
                <a:lnTo>
                  <a:pt x="1117600" y="635000"/>
                </a:lnTo>
                <a:lnTo>
                  <a:pt x="1117600" y="101600"/>
                </a:lnTo>
                <a:lnTo>
                  <a:pt x="1109623" y="62030"/>
                </a:lnTo>
                <a:lnTo>
                  <a:pt x="1087861" y="29738"/>
                </a:lnTo>
                <a:lnTo>
                  <a:pt x="1055569" y="7976"/>
                </a:lnTo>
                <a:lnTo>
                  <a:pt x="1016000" y="0"/>
                </a:lnTo>
                <a:close/>
              </a:path>
            </a:pathLst>
          </a:custGeom>
          <a:solidFill>
            <a:srgbClr val="1F5B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31544" y="2436876"/>
            <a:ext cx="1012190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46050">
              <a:lnSpc>
                <a:spcPct val="1167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FFFFFF"/>
                </a:solidFill>
                <a:latin typeface="Arial"/>
                <a:cs typeface="Arial"/>
              </a:rPr>
              <a:t>Citizen</a:t>
            </a:r>
            <a:r>
              <a:rPr sz="750" b="1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750" b="1" spc="-10" dirty="0">
                <a:solidFill>
                  <a:srgbClr val="FFFFFF"/>
                </a:solidFill>
                <a:latin typeface="Arial"/>
                <a:cs typeface="Arial"/>
              </a:rPr>
              <a:t>submits complaint</a:t>
            </a:r>
            <a:r>
              <a:rPr sz="750" b="1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750" b="1" spc="-10" dirty="0">
                <a:solidFill>
                  <a:srgbClr val="FFFFFF"/>
                </a:solidFill>
                <a:latin typeface="Arial"/>
                <a:cs typeface="Arial"/>
              </a:rPr>
              <a:t>(text/photo)</a:t>
            </a:r>
            <a:endParaRPr sz="7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90927" y="3074670"/>
            <a:ext cx="294005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i="1" dirty="0">
                <a:solidFill>
                  <a:srgbClr val="666666"/>
                </a:solidFill>
                <a:latin typeface="Arial"/>
                <a:cs typeface="Arial"/>
              </a:rPr>
              <a:t>Step</a:t>
            </a:r>
            <a:r>
              <a:rPr sz="700" i="1" spc="6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700" i="1" spc="-50" dirty="0">
                <a:solidFill>
                  <a:srgbClr val="666666"/>
                </a:solidFill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174239" y="2265679"/>
            <a:ext cx="1117600" cy="736600"/>
          </a:xfrm>
          <a:custGeom>
            <a:avLst/>
            <a:gdLst/>
            <a:ahLst/>
            <a:cxnLst/>
            <a:rect l="l" t="t" r="r" b="b"/>
            <a:pathLst>
              <a:path w="1117600" h="736600">
                <a:moveTo>
                  <a:pt x="1016000" y="0"/>
                </a:move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635000"/>
                </a:lnTo>
                <a:lnTo>
                  <a:pt x="7976" y="674569"/>
                </a:lnTo>
                <a:lnTo>
                  <a:pt x="29738" y="706861"/>
                </a:lnTo>
                <a:lnTo>
                  <a:pt x="62030" y="728623"/>
                </a:lnTo>
                <a:lnTo>
                  <a:pt x="101600" y="736600"/>
                </a:lnTo>
                <a:lnTo>
                  <a:pt x="1016000" y="736600"/>
                </a:lnTo>
                <a:lnTo>
                  <a:pt x="1055569" y="728623"/>
                </a:lnTo>
                <a:lnTo>
                  <a:pt x="1087861" y="706861"/>
                </a:lnTo>
                <a:lnTo>
                  <a:pt x="1109623" y="674569"/>
                </a:lnTo>
                <a:lnTo>
                  <a:pt x="1117600" y="635000"/>
                </a:lnTo>
                <a:lnTo>
                  <a:pt x="1117600" y="101600"/>
                </a:lnTo>
                <a:lnTo>
                  <a:pt x="1109623" y="62030"/>
                </a:lnTo>
                <a:lnTo>
                  <a:pt x="1087861" y="29738"/>
                </a:lnTo>
                <a:lnTo>
                  <a:pt x="1055569" y="7976"/>
                </a:lnTo>
                <a:lnTo>
                  <a:pt x="1016000" y="0"/>
                </a:lnTo>
                <a:close/>
              </a:path>
            </a:pathLst>
          </a:custGeom>
          <a:solidFill>
            <a:srgbClr val="1F5B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256830" y="2436876"/>
            <a:ext cx="952500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7790">
              <a:lnSpc>
                <a:spcPct val="116700"/>
              </a:lnSpc>
              <a:spcBef>
                <a:spcPts val="100"/>
              </a:spcBef>
            </a:pPr>
            <a:r>
              <a:rPr sz="750" b="1" dirty="0">
                <a:solidFill>
                  <a:srgbClr val="FFFFFF"/>
                </a:solidFill>
                <a:latin typeface="Arial"/>
                <a:cs typeface="Arial"/>
              </a:rPr>
              <a:t>AI</a:t>
            </a:r>
            <a:r>
              <a:rPr sz="75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750" b="1" spc="-10" dirty="0">
                <a:solidFill>
                  <a:srgbClr val="FFFFFF"/>
                </a:solidFill>
                <a:latin typeface="Arial"/>
                <a:cs typeface="Arial"/>
              </a:rPr>
              <a:t>Classification </a:t>
            </a:r>
            <a:r>
              <a:rPr sz="750" b="1" dirty="0">
                <a:solidFill>
                  <a:srgbClr val="FFFFFF"/>
                </a:solidFill>
                <a:latin typeface="Arial"/>
                <a:cs typeface="Arial"/>
              </a:rPr>
              <a:t>(category</a:t>
            </a:r>
            <a:r>
              <a:rPr sz="75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750" b="1" dirty="0">
                <a:solidFill>
                  <a:srgbClr val="FFFFFF"/>
                </a:solidFill>
                <a:latin typeface="Arial"/>
                <a:cs typeface="Arial"/>
              </a:rPr>
              <a:t>+</a:t>
            </a:r>
            <a:r>
              <a:rPr sz="75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750" b="1" spc="-10" dirty="0">
                <a:solidFill>
                  <a:srgbClr val="FFFFFF"/>
                </a:solidFill>
                <a:latin typeface="Arial"/>
                <a:cs typeface="Arial"/>
              </a:rPr>
              <a:t>urgency)</a:t>
            </a:r>
            <a:endParaRPr sz="7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86327" y="3074670"/>
            <a:ext cx="294005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i="1" dirty="0">
                <a:solidFill>
                  <a:srgbClr val="666666"/>
                </a:solidFill>
                <a:latin typeface="Arial"/>
                <a:cs typeface="Arial"/>
              </a:rPr>
              <a:t>Step</a:t>
            </a:r>
            <a:r>
              <a:rPr sz="700" i="1" spc="6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700" i="1" spc="-50" dirty="0">
                <a:solidFill>
                  <a:srgbClr val="666666"/>
                </a:solidFill>
                <a:latin typeface="Arial"/>
                <a:cs typeface="Arial"/>
              </a:rPr>
              <a:t>2</a:t>
            </a:r>
            <a:endParaRPr sz="7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469640" y="2265679"/>
            <a:ext cx="1117600" cy="736600"/>
          </a:xfrm>
          <a:custGeom>
            <a:avLst/>
            <a:gdLst/>
            <a:ahLst/>
            <a:cxnLst/>
            <a:rect l="l" t="t" r="r" b="b"/>
            <a:pathLst>
              <a:path w="1117600" h="736600">
                <a:moveTo>
                  <a:pt x="1016000" y="0"/>
                </a:move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635000"/>
                </a:lnTo>
                <a:lnTo>
                  <a:pt x="7976" y="674569"/>
                </a:lnTo>
                <a:lnTo>
                  <a:pt x="29738" y="706861"/>
                </a:lnTo>
                <a:lnTo>
                  <a:pt x="62030" y="728623"/>
                </a:lnTo>
                <a:lnTo>
                  <a:pt x="101600" y="736600"/>
                </a:lnTo>
                <a:lnTo>
                  <a:pt x="1016000" y="736600"/>
                </a:lnTo>
                <a:lnTo>
                  <a:pt x="1055569" y="728623"/>
                </a:lnTo>
                <a:lnTo>
                  <a:pt x="1087861" y="706861"/>
                </a:lnTo>
                <a:lnTo>
                  <a:pt x="1109623" y="674569"/>
                </a:lnTo>
                <a:lnTo>
                  <a:pt x="1117600" y="635000"/>
                </a:lnTo>
                <a:lnTo>
                  <a:pt x="1117600" y="101600"/>
                </a:lnTo>
                <a:lnTo>
                  <a:pt x="1109623" y="62030"/>
                </a:lnTo>
                <a:lnTo>
                  <a:pt x="1087861" y="29738"/>
                </a:lnTo>
                <a:lnTo>
                  <a:pt x="1055569" y="7976"/>
                </a:lnTo>
                <a:lnTo>
                  <a:pt x="1016000" y="0"/>
                </a:lnTo>
                <a:close/>
              </a:path>
            </a:pathLst>
          </a:custGeom>
          <a:solidFill>
            <a:srgbClr val="E875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533998" y="2436876"/>
            <a:ext cx="989330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2545">
              <a:lnSpc>
                <a:spcPct val="116700"/>
              </a:lnSpc>
              <a:spcBef>
                <a:spcPts val="100"/>
              </a:spcBef>
            </a:pPr>
            <a:r>
              <a:rPr sz="750" b="1" dirty="0">
                <a:solidFill>
                  <a:srgbClr val="FFFFFF"/>
                </a:solidFill>
                <a:latin typeface="Arial"/>
                <a:cs typeface="Arial"/>
              </a:rPr>
              <a:t>RAG</a:t>
            </a:r>
            <a:r>
              <a:rPr sz="75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750" b="1" dirty="0">
                <a:solidFill>
                  <a:srgbClr val="FFFFFF"/>
                </a:solidFill>
                <a:latin typeface="Arial"/>
                <a:cs typeface="Arial"/>
              </a:rPr>
              <a:t>Policy</a:t>
            </a:r>
            <a:r>
              <a:rPr sz="75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750" b="1" spc="-10" dirty="0">
                <a:solidFill>
                  <a:srgbClr val="FFFFFF"/>
                </a:solidFill>
                <a:latin typeface="Arial"/>
                <a:cs typeface="Arial"/>
              </a:rPr>
              <a:t>Lookup </a:t>
            </a:r>
            <a:r>
              <a:rPr sz="750" b="1" dirty="0">
                <a:solidFill>
                  <a:srgbClr val="FFFFFF"/>
                </a:solidFill>
                <a:latin typeface="Arial"/>
                <a:cs typeface="Arial"/>
              </a:rPr>
              <a:t>(dept.</a:t>
            </a:r>
            <a:r>
              <a:rPr sz="75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750" b="1" dirty="0">
                <a:solidFill>
                  <a:srgbClr val="FFFFFF"/>
                </a:solidFill>
                <a:latin typeface="Arial"/>
                <a:cs typeface="Arial"/>
              </a:rPr>
              <a:t>+</a:t>
            </a:r>
            <a:r>
              <a:rPr sz="75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750" b="1" dirty="0">
                <a:solidFill>
                  <a:srgbClr val="FFFFFF"/>
                </a:solidFill>
                <a:latin typeface="Arial"/>
                <a:cs typeface="Arial"/>
              </a:rPr>
              <a:t>SLA</a:t>
            </a:r>
            <a:r>
              <a:rPr sz="75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750" b="1" spc="-10" dirty="0">
                <a:solidFill>
                  <a:srgbClr val="FFFFFF"/>
                </a:solidFill>
                <a:latin typeface="Arial"/>
                <a:cs typeface="Arial"/>
              </a:rPr>
              <a:t>timeline)</a:t>
            </a:r>
            <a:endParaRPr sz="7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81727" y="3074670"/>
            <a:ext cx="294005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i="1" dirty="0">
                <a:solidFill>
                  <a:srgbClr val="666666"/>
                </a:solidFill>
                <a:latin typeface="Arial"/>
                <a:cs typeface="Arial"/>
              </a:rPr>
              <a:t>Step</a:t>
            </a:r>
            <a:r>
              <a:rPr sz="700" i="1" spc="6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700" i="1" spc="-50" dirty="0">
                <a:solidFill>
                  <a:srgbClr val="666666"/>
                </a:solidFill>
                <a:latin typeface="Arial"/>
                <a:cs typeface="Arial"/>
              </a:rPr>
              <a:t>3</a:t>
            </a:r>
            <a:endParaRPr sz="7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765040" y="2265679"/>
            <a:ext cx="1117600" cy="736600"/>
          </a:xfrm>
          <a:custGeom>
            <a:avLst/>
            <a:gdLst/>
            <a:ahLst/>
            <a:cxnLst/>
            <a:rect l="l" t="t" r="r" b="b"/>
            <a:pathLst>
              <a:path w="1117600" h="736600">
                <a:moveTo>
                  <a:pt x="1016000" y="0"/>
                </a:move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635000"/>
                </a:lnTo>
                <a:lnTo>
                  <a:pt x="7976" y="674569"/>
                </a:lnTo>
                <a:lnTo>
                  <a:pt x="29738" y="706861"/>
                </a:lnTo>
                <a:lnTo>
                  <a:pt x="62030" y="728623"/>
                </a:lnTo>
                <a:lnTo>
                  <a:pt x="101600" y="736600"/>
                </a:lnTo>
                <a:lnTo>
                  <a:pt x="1016000" y="736600"/>
                </a:lnTo>
                <a:lnTo>
                  <a:pt x="1055569" y="728623"/>
                </a:lnTo>
                <a:lnTo>
                  <a:pt x="1087861" y="706861"/>
                </a:lnTo>
                <a:lnTo>
                  <a:pt x="1109623" y="674569"/>
                </a:lnTo>
                <a:lnTo>
                  <a:pt x="1117600" y="635000"/>
                </a:lnTo>
                <a:lnTo>
                  <a:pt x="1117600" y="101600"/>
                </a:lnTo>
                <a:lnTo>
                  <a:pt x="1109623" y="62030"/>
                </a:lnTo>
                <a:lnTo>
                  <a:pt x="1087861" y="29738"/>
                </a:lnTo>
                <a:lnTo>
                  <a:pt x="1055569" y="7976"/>
                </a:lnTo>
                <a:lnTo>
                  <a:pt x="1016000" y="0"/>
                </a:lnTo>
                <a:close/>
              </a:path>
            </a:pathLst>
          </a:custGeom>
          <a:solidFill>
            <a:srgbClr val="1F5B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838561" y="2436876"/>
            <a:ext cx="970915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4295">
              <a:lnSpc>
                <a:spcPct val="1167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FFFFFF"/>
                </a:solidFill>
                <a:latin typeface="Arial"/>
                <a:cs typeface="Arial"/>
              </a:rPr>
              <a:t>Auto-</a:t>
            </a:r>
            <a:r>
              <a:rPr sz="750" b="1" dirty="0">
                <a:solidFill>
                  <a:srgbClr val="FFFFFF"/>
                </a:solidFill>
                <a:latin typeface="Arial"/>
                <a:cs typeface="Arial"/>
              </a:rPr>
              <a:t>route</a:t>
            </a:r>
            <a:r>
              <a:rPr sz="75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750" b="1" dirty="0">
                <a:solidFill>
                  <a:srgbClr val="FFFFFF"/>
                </a:solidFill>
                <a:latin typeface="Arial"/>
                <a:cs typeface="Arial"/>
              </a:rPr>
              <a:t>+</a:t>
            </a:r>
            <a:r>
              <a:rPr sz="75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750" b="1" spc="-10" dirty="0">
                <a:solidFill>
                  <a:srgbClr val="FFFFFF"/>
                </a:solidFill>
                <a:latin typeface="Arial"/>
                <a:cs typeface="Arial"/>
              </a:rPr>
              <a:t>draft acknowledgment</a:t>
            </a:r>
            <a:r>
              <a:rPr sz="750" b="1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750" b="1" spc="-20" dirty="0">
                <a:solidFill>
                  <a:srgbClr val="FFFFFF"/>
                </a:solidFill>
                <a:latin typeface="Arial"/>
                <a:cs typeface="Arial"/>
              </a:rPr>
              <a:t>(ID)</a:t>
            </a:r>
            <a:endParaRPr sz="7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177128" y="3074670"/>
            <a:ext cx="294005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i="1" dirty="0">
                <a:solidFill>
                  <a:srgbClr val="666666"/>
                </a:solidFill>
                <a:latin typeface="Arial"/>
                <a:cs typeface="Arial"/>
              </a:rPr>
              <a:t>Step</a:t>
            </a:r>
            <a:r>
              <a:rPr sz="700" i="1" spc="6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700" i="1" spc="-50" dirty="0">
                <a:solidFill>
                  <a:srgbClr val="666666"/>
                </a:solidFill>
                <a:latin typeface="Arial"/>
                <a:cs typeface="Arial"/>
              </a:rPr>
              <a:t>4</a:t>
            </a:r>
            <a:endParaRPr sz="7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060440" y="2265679"/>
            <a:ext cx="1117600" cy="736600"/>
          </a:xfrm>
          <a:custGeom>
            <a:avLst/>
            <a:gdLst/>
            <a:ahLst/>
            <a:cxnLst/>
            <a:rect l="l" t="t" r="r" b="b"/>
            <a:pathLst>
              <a:path w="1117600" h="736600">
                <a:moveTo>
                  <a:pt x="1016000" y="0"/>
                </a:move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635000"/>
                </a:lnTo>
                <a:lnTo>
                  <a:pt x="7976" y="674569"/>
                </a:lnTo>
                <a:lnTo>
                  <a:pt x="29738" y="706861"/>
                </a:lnTo>
                <a:lnTo>
                  <a:pt x="62030" y="728623"/>
                </a:lnTo>
                <a:lnTo>
                  <a:pt x="101600" y="736600"/>
                </a:lnTo>
                <a:lnTo>
                  <a:pt x="1016000" y="736600"/>
                </a:lnTo>
                <a:lnTo>
                  <a:pt x="1055569" y="728623"/>
                </a:lnTo>
                <a:lnTo>
                  <a:pt x="1087861" y="706861"/>
                </a:lnTo>
                <a:lnTo>
                  <a:pt x="1109623" y="674569"/>
                </a:lnTo>
                <a:lnTo>
                  <a:pt x="1117600" y="635000"/>
                </a:lnTo>
                <a:lnTo>
                  <a:pt x="1117600" y="101600"/>
                </a:lnTo>
                <a:lnTo>
                  <a:pt x="1109623" y="62030"/>
                </a:lnTo>
                <a:lnTo>
                  <a:pt x="1087861" y="29738"/>
                </a:lnTo>
                <a:lnTo>
                  <a:pt x="1055569" y="7976"/>
                </a:lnTo>
                <a:lnTo>
                  <a:pt x="1016000" y="0"/>
                </a:lnTo>
                <a:close/>
              </a:path>
            </a:pathLst>
          </a:custGeom>
          <a:solidFill>
            <a:srgbClr val="1F5B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246173" y="2436876"/>
            <a:ext cx="746125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9380" marR="5080" indent="-107314">
              <a:lnSpc>
                <a:spcPct val="1167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FFFFFF"/>
                </a:solidFill>
                <a:latin typeface="Arial"/>
                <a:cs typeface="Arial"/>
              </a:rPr>
              <a:t>Dashboard</a:t>
            </a:r>
            <a:r>
              <a:rPr sz="750" b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750" b="1" spc="-20" dirty="0">
                <a:solidFill>
                  <a:srgbClr val="FFFFFF"/>
                </a:solidFill>
                <a:latin typeface="Arial"/>
                <a:cs typeface="Arial"/>
              </a:rPr>
              <a:t>view</a:t>
            </a:r>
            <a:r>
              <a:rPr sz="750" b="1" dirty="0">
                <a:solidFill>
                  <a:srgbClr val="FFFFFF"/>
                </a:solidFill>
                <a:latin typeface="Arial"/>
                <a:cs typeface="Arial"/>
              </a:rPr>
              <a:t> for</a:t>
            </a:r>
            <a:r>
              <a:rPr sz="75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750" b="1" spc="-10" dirty="0">
                <a:solidFill>
                  <a:srgbClr val="FFFFFF"/>
                </a:solidFill>
                <a:latin typeface="Arial"/>
                <a:cs typeface="Arial"/>
              </a:rPr>
              <a:t>officials</a:t>
            </a:r>
            <a:endParaRPr sz="7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72528" y="3074670"/>
            <a:ext cx="294005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i="1" dirty="0">
                <a:solidFill>
                  <a:srgbClr val="666666"/>
                </a:solidFill>
                <a:latin typeface="Arial"/>
                <a:cs typeface="Arial"/>
              </a:rPr>
              <a:t>Step</a:t>
            </a:r>
            <a:r>
              <a:rPr sz="700" i="1" spc="6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700" i="1" spc="-50" dirty="0">
                <a:solidFill>
                  <a:srgbClr val="666666"/>
                </a:solidFill>
                <a:latin typeface="Arial"/>
                <a:cs typeface="Arial"/>
              </a:rPr>
              <a:t>5</a:t>
            </a:r>
            <a:endParaRPr sz="7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996439" y="2583179"/>
            <a:ext cx="4064000" cy="101600"/>
          </a:xfrm>
          <a:custGeom>
            <a:avLst/>
            <a:gdLst/>
            <a:ahLst/>
            <a:cxnLst/>
            <a:rect l="l" t="t" r="r" b="b"/>
            <a:pathLst>
              <a:path w="4064000" h="101600">
                <a:moveTo>
                  <a:pt x="0" y="50800"/>
                </a:moveTo>
                <a:lnTo>
                  <a:pt x="177800" y="50800"/>
                </a:lnTo>
              </a:path>
              <a:path w="4064000" h="101600">
                <a:moveTo>
                  <a:pt x="101600" y="0"/>
                </a:moveTo>
                <a:lnTo>
                  <a:pt x="177800" y="50800"/>
                </a:lnTo>
              </a:path>
              <a:path w="4064000" h="101600">
                <a:moveTo>
                  <a:pt x="101600" y="101600"/>
                </a:moveTo>
                <a:lnTo>
                  <a:pt x="177800" y="50800"/>
                </a:lnTo>
              </a:path>
              <a:path w="4064000" h="101600">
                <a:moveTo>
                  <a:pt x="1295400" y="50800"/>
                </a:moveTo>
                <a:lnTo>
                  <a:pt x="1473200" y="50800"/>
                </a:lnTo>
              </a:path>
              <a:path w="4064000" h="101600">
                <a:moveTo>
                  <a:pt x="1397000" y="0"/>
                </a:moveTo>
                <a:lnTo>
                  <a:pt x="1473200" y="50800"/>
                </a:lnTo>
              </a:path>
              <a:path w="4064000" h="101600">
                <a:moveTo>
                  <a:pt x="1397000" y="101600"/>
                </a:moveTo>
                <a:lnTo>
                  <a:pt x="1473200" y="50800"/>
                </a:lnTo>
              </a:path>
              <a:path w="4064000" h="101600">
                <a:moveTo>
                  <a:pt x="2590800" y="50800"/>
                </a:moveTo>
                <a:lnTo>
                  <a:pt x="2768600" y="50800"/>
                </a:lnTo>
              </a:path>
              <a:path w="4064000" h="101600">
                <a:moveTo>
                  <a:pt x="2692400" y="0"/>
                </a:moveTo>
                <a:lnTo>
                  <a:pt x="2768600" y="50800"/>
                </a:lnTo>
              </a:path>
              <a:path w="4064000" h="101600">
                <a:moveTo>
                  <a:pt x="2692400" y="101600"/>
                </a:moveTo>
                <a:lnTo>
                  <a:pt x="2768600" y="50800"/>
                </a:lnTo>
              </a:path>
              <a:path w="4064000" h="101600">
                <a:moveTo>
                  <a:pt x="3886200" y="50800"/>
                </a:moveTo>
                <a:lnTo>
                  <a:pt x="4064000" y="50800"/>
                </a:lnTo>
              </a:path>
              <a:path w="4064000" h="101600">
                <a:moveTo>
                  <a:pt x="3987800" y="0"/>
                </a:moveTo>
                <a:lnTo>
                  <a:pt x="4064000" y="50800"/>
                </a:lnTo>
              </a:path>
              <a:path w="4064000" h="101600">
                <a:moveTo>
                  <a:pt x="3987800" y="101600"/>
                </a:moveTo>
                <a:lnTo>
                  <a:pt x="4064000" y="50800"/>
                </a:lnTo>
              </a:path>
            </a:pathLst>
          </a:custGeom>
          <a:ln w="12700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840739" y="4284979"/>
            <a:ext cx="2200910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dirty="0">
                <a:solidFill>
                  <a:srgbClr val="E8753A"/>
                </a:solidFill>
                <a:latin typeface="Arial"/>
                <a:cs typeface="Arial"/>
              </a:rPr>
              <a:t>Sample</a:t>
            </a:r>
            <a:r>
              <a:rPr sz="1150" b="1" spc="-30" dirty="0">
                <a:solidFill>
                  <a:srgbClr val="E8753A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E8753A"/>
                </a:solidFill>
                <a:latin typeface="Arial"/>
                <a:cs typeface="Arial"/>
              </a:rPr>
              <a:t>Interaction</a:t>
            </a:r>
            <a:r>
              <a:rPr sz="1150" b="1" spc="-30" dirty="0">
                <a:solidFill>
                  <a:srgbClr val="E8753A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E8753A"/>
                </a:solidFill>
                <a:latin typeface="Arial"/>
                <a:cs typeface="Arial"/>
              </a:rPr>
              <a:t>(illustrative)</a:t>
            </a:r>
            <a:endParaRPr sz="1150">
              <a:latin typeface="Arial"/>
              <a:cs typeface="Arial"/>
            </a:endParaRPr>
          </a:p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1139189" y="4535170"/>
          <a:ext cx="5570220" cy="2425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8720"/>
                <a:gridCol w="4297680"/>
              </a:tblGrid>
              <a:tr h="558800"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1000" b="1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Citizen</a:t>
                      </a:r>
                      <a:r>
                        <a:rPr sz="1000" b="1" spc="100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0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input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92710" marB="0">
                    <a:lnL w="9525">
                      <a:solidFill>
                        <a:srgbClr val="CFDFD8"/>
                      </a:solidFill>
                      <a:prstDash val="solid"/>
                    </a:lnL>
                    <a:lnR w="6350">
                      <a:solidFill>
                        <a:srgbClr val="CFDFD8"/>
                      </a:solidFill>
                      <a:prstDash val="solid"/>
                    </a:lnR>
                    <a:lnT w="9525">
                      <a:solidFill>
                        <a:srgbClr val="CFDFD8"/>
                      </a:solidFill>
                      <a:prstDash val="solid"/>
                    </a:lnT>
                    <a:lnB w="6350">
                      <a:solidFill>
                        <a:srgbClr val="CFDFD8"/>
                      </a:solidFill>
                      <a:prstDash val="solid"/>
                    </a:lnB>
                    <a:solidFill>
                      <a:srgbClr val="EFF6F2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220345">
                        <a:lnSpc>
                          <a:spcPct val="125000"/>
                        </a:lnSpc>
                        <a:spcBef>
                          <a:spcPts val="430"/>
                        </a:spcBef>
                      </a:pPr>
                      <a:r>
                        <a:rPr sz="10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“There's</a:t>
                      </a:r>
                      <a:r>
                        <a:rPr sz="1000" spc="7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sz="1000" spc="75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deep</a:t>
                      </a:r>
                      <a:r>
                        <a:rPr sz="1000" spc="75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pothole</a:t>
                      </a:r>
                      <a:r>
                        <a:rPr sz="1000" spc="75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on</a:t>
                      </a:r>
                      <a:r>
                        <a:rPr sz="1000" spc="7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4th</a:t>
                      </a:r>
                      <a:r>
                        <a:rPr sz="1000" spc="75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Cross</a:t>
                      </a:r>
                      <a:r>
                        <a:rPr sz="1000" spc="75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Road</a:t>
                      </a:r>
                      <a:r>
                        <a:rPr sz="1000" spc="75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near</a:t>
                      </a:r>
                      <a:r>
                        <a:rPr sz="1000" spc="75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sz="1000" spc="7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school</a:t>
                      </a:r>
                      <a:r>
                        <a:rPr sz="1000" spc="75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gate,</a:t>
                      </a:r>
                      <a:r>
                        <a:rPr sz="1000" spc="75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2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it's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dangerous</a:t>
                      </a:r>
                      <a:r>
                        <a:rPr sz="1000" spc="7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for</a:t>
                      </a:r>
                      <a:r>
                        <a:rPr sz="1000" spc="75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bikes.”</a:t>
                      </a:r>
                      <a:r>
                        <a:rPr sz="1000" spc="75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+</a:t>
                      </a:r>
                      <a:r>
                        <a:rPr sz="1000" spc="75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photo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54610" marB="0">
                    <a:lnL w="6350">
                      <a:solidFill>
                        <a:srgbClr val="CFDFD8"/>
                      </a:solidFill>
                      <a:prstDash val="solid"/>
                    </a:lnL>
                    <a:lnR w="9525">
                      <a:solidFill>
                        <a:srgbClr val="CFDFD8"/>
                      </a:solidFill>
                      <a:prstDash val="solid"/>
                    </a:lnR>
                    <a:lnT w="9525">
                      <a:solidFill>
                        <a:srgbClr val="CFDFD8"/>
                      </a:solidFill>
                      <a:prstDash val="solid"/>
                    </a:lnT>
                    <a:lnB w="6350">
                      <a:solidFill>
                        <a:srgbClr val="CFDFD8"/>
                      </a:solidFill>
                      <a:prstDash val="solid"/>
                    </a:lnB>
                    <a:solidFill>
                      <a:srgbClr val="EFF6F2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1000" b="1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AI</a:t>
                      </a:r>
                      <a:r>
                        <a:rPr sz="1000" b="1" spc="35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0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classification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92710" marB="0">
                    <a:lnL w="9525">
                      <a:solidFill>
                        <a:srgbClr val="CFDFD8"/>
                      </a:solidFill>
                      <a:prstDash val="solid"/>
                    </a:lnL>
                    <a:lnR w="6350">
                      <a:solidFill>
                        <a:srgbClr val="CFDFD8"/>
                      </a:solidFill>
                      <a:prstDash val="solid"/>
                    </a:lnR>
                    <a:lnT w="6350">
                      <a:solidFill>
                        <a:srgbClr val="CFDFD8"/>
                      </a:solidFill>
                      <a:prstDash val="solid"/>
                    </a:lnT>
                    <a:lnB w="6350">
                      <a:solidFill>
                        <a:srgbClr val="CFDFD8"/>
                      </a:solidFill>
                      <a:prstDash val="solid"/>
                    </a:lnB>
                    <a:solidFill>
                      <a:srgbClr val="EFF6F2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77470">
                        <a:lnSpc>
                          <a:spcPct val="125000"/>
                        </a:lnSpc>
                        <a:spcBef>
                          <a:spcPts val="430"/>
                        </a:spcBef>
                      </a:pPr>
                      <a:r>
                        <a:rPr sz="10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Category:</a:t>
                      </a:r>
                      <a:r>
                        <a:rPr sz="1000" spc="7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Roads</a:t>
                      </a:r>
                      <a:r>
                        <a:rPr sz="1000" spc="75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&amp;</a:t>
                      </a:r>
                      <a:r>
                        <a:rPr sz="1000" spc="75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Infrastructure</a:t>
                      </a:r>
                      <a:r>
                        <a:rPr sz="1000" spc="43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|</a:t>
                      </a:r>
                      <a:r>
                        <a:rPr sz="1000" spc="425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Urgency:</a:t>
                      </a:r>
                      <a:r>
                        <a:rPr sz="1000" spc="75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High</a:t>
                      </a:r>
                      <a:r>
                        <a:rPr sz="1000" spc="75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(near</a:t>
                      </a:r>
                      <a:r>
                        <a:rPr sz="1000" spc="75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school,</a:t>
                      </a:r>
                      <a:r>
                        <a:rPr sz="1000" spc="7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safety risk)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54610" marB="0">
                    <a:lnL w="6350">
                      <a:solidFill>
                        <a:srgbClr val="CFDFD8"/>
                      </a:solidFill>
                      <a:prstDash val="solid"/>
                    </a:lnL>
                    <a:lnR w="9525">
                      <a:solidFill>
                        <a:srgbClr val="CFDFD8"/>
                      </a:solidFill>
                      <a:prstDash val="solid"/>
                    </a:lnR>
                    <a:lnT w="6350">
                      <a:solidFill>
                        <a:srgbClr val="CFDFD8"/>
                      </a:solidFill>
                      <a:prstDash val="solid"/>
                    </a:lnT>
                    <a:lnB w="6350">
                      <a:solidFill>
                        <a:srgbClr val="CFDFD8"/>
                      </a:solidFill>
                      <a:prstDash val="solid"/>
                    </a:lnB>
                    <a:solidFill>
                      <a:srgbClr val="EFF6F2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marL="114300" marR="361315">
                        <a:lnSpc>
                          <a:spcPct val="125000"/>
                        </a:lnSpc>
                        <a:spcBef>
                          <a:spcPts val="430"/>
                        </a:spcBef>
                      </a:pPr>
                      <a:r>
                        <a:rPr sz="1000" b="1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RAG</a:t>
                      </a:r>
                      <a:r>
                        <a:rPr sz="1000" b="1" spc="45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0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policy lookup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9525">
                      <a:solidFill>
                        <a:srgbClr val="CFDFD8"/>
                      </a:solidFill>
                      <a:prstDash val="solid"/>
                    </a:lnL>
                    <a:lnR w="6350">
                      <a:solidFill>
                        <a:srgbClr val="CFDFD8"/>
                      </a:solidFill>
                      <a:prstDash val="solid"/>
                    </a:lnR>
                    <a:lnT w="6350">
                      <a:solidFill>
                        <a:srgbClr val="CFDFD8"/>
                      </a:solidFill>
                      <a:prstDash val="solid"/>
                    </a:lnT>
                    <a:lnB w="6350">
                      <a:solidFill>
                        <a:srgbClr val="CFDFD8"/>
                      </a:solidFill>
                      <a:prstDash val="solid"/>
                    </a:lnB>
                    <a:solidFill>
                      <a:srgbClr val="EFF6F2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49860">
                        <a:lnSpc>
                          <a:spcPct val="125000"/>
                        </a:lnSpc>
                        <a:spcBef>
                          <a:spcPts val="430"/>
                        </a:spcBef>
                      </a:pPr>
                      <a:r>
                        <a:rPr sz="10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Routed</a:t>
                      </a:r>
                      <a:r>
                        <a:rPr sz="1000" spc="6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to:</a:t>
                      </a:r>
                      <a:r>
                        <a:rPr sz="1000" spc="6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Roads</a:t>
                      </a:r>
                      <a:r>
                        <a:rPr sz="1000" spc="6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&amp;</a:t>
                      </a:r>
                      <a:r>
                        <a:rPr sz="1000" spc="65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Infrastructure</a:t>
                      </a:r>
                      <a:r>
                        <a:rPr sz="1000" spc="6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Dept,</a:t>
                      </a:r>
                      <a:r>
                        <a:rPr sz="1000" spc="6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Ward</a:t>
                      </a:r>
                      <a:r>
                        <a:rPr sz="1000" spc="65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14</a:t>
                      </a:r>
                      <a:r>
                        <a:rPr sz="1000" spc="405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|</a:t>
                      </a:r>
                      <a:r>
                        <a:rPr sz="1000" spc="4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SLA:</a:t>
                      </a:r>
                      <a:r>
                        <a:rPr sz="1000" spc="65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72</a:t>
                      </a:r>
                      <a:r>
                        <a:rPr sz="1000" spc="6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hours</a:t>
                      </a:r>
                      <a:r>
                        <a:rPr sz="1000" spc="6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25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for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high-urgency</a:t>
                      </a:r>
                      <a:r>
                        <a:rPr sz="1000" spc="12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road</a:t>
                      </a:r>
                      <a:r>
                        <a:rPr sz="1000" spc="12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hazards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54610" marB="0">
                    <a:lnL w="6350">
                      <a:solidFill>
                        <a:srgbClr val="CFDFD8"/>
                      </a:solidFill>
                      <a:prstDash val="solid"/>
                    </a:lnL>
                    <a:lnR w="9525">
                      <a:solidFill>
                        <a:srgbClr val="CFDFD8"/>
                      </a:solidFill>
                      <a:prstDash val="solid"/>
                    </a:lnR>
                    <a:lnT w="6350">
                      <a:solidFill>
                        <a:srgbClr val="CFDFD8"/>
                      </a:solidFill>
                      <a:prstDash val="solid"/>
                    </a:lnT>
                    <a:lnB w="6350">
                      <a:solidFill>
                        <a:srgbClr val="CFDFD8"/>
                      </a:solidFill>
                      <a:prstDash val="solid"/>
                    </a:lnB>
                    <a:solidFill>
                      <a:srgbClr val="EFF6F2"/>
                    </a:solidFill>
                  </a:tcPr>
                </a:tc>
              </a:tr>
              <a:tr h="749300">
                <a:tc>
                  <a:txBody>
                    <a:bodyPr/>
                    <a:lstStyle/>
                    <a:p>
                      <a:pPr marL="114300" marR="281940">
                        <a:lnSpc>
                          <a:spcPct val="125000"/>
                        </a:lnSpc>
                        <a:spcBef>
                          <a:spcPts val="430"/>
                        </a:spcBef>
                      </a:pPr>
                      <a:r>
                        <a:rPr sz="1000" b="1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Auto-</a:t>
                      </a:r>
                      <a:r>
                        <a:rPr sz="1000" b="1" spc="-10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drafted reply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9525">
                      <a:solidFill>
                        <a:srgbClr val="CFDFD8"/>
                      </a:solidFill>
                      <a:prstDash val="solid"/>
                    </a:lnL>
                    <a:lnR w="6350">
                      <a:solidFill>
                        <a:srgbClr val="CFDFD8"/>
                      </a:solidFill>
                      <a:prstDash val="solid"/>
                    </a:lnR>
                    <a:lnT w="6350">
                      <a:solidFill>
                        <a:srgbClr val="CFDFD8"/>
                      </a:solidFill>
                      <a:prstDash val="solid"/>
                    </a:lnT>
                    <a:lnB w="9525">
                      <a:solidFill>
                        <a:srgbClr val="CFDFD8"/>
                      </a:solidFill>
                      <a:prstDash val="solid"/>
                    </a:lnB>
                    <a:solidFill>
                      <a:srgbClr val="EFF6F2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219710">
                        <a:lnSpc>
                          <a:spcPct val="125000"/>
                        </a:lnSpc>
                        <a:spcBef>
                          <a:spcPts val="430"/>
                        </a:spcBef>
                      </a:pPr>
                      <a:r>
                        <a:rPr sz="10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“Thank</a:t>
                      </a:r>
                      <a:r>
                        <a:rPr sz="1000" spc="85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you.</a:t>
                      </a:r>
                      <a:r>
                        <a:rPr sz="1000" spc="85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Your</a:t>
                      </a:r>
                      <a:r>
                        <a:rPr sz="1000" spc="9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complaint</a:t>
                      </a:r>
                      <a:r>
                        <a:rPr sz="1000" spc="85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(ID:</a:t>
                      </a:r>
                      <a:r>
                        <a:rPr sz="1000" spc="85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CV-2091)</a:t>
                      </a:r>
                      <a:r>
                        <a:rPr sz="1000" spc="9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has</a:t>
                      </a:r>
                      <a:r>
                        <a:rPr sz="1000" spc="85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been</a:t>
                      </a:r>
                      <a:r>
                        <a:rPr sz="1000" spc="85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marked</a:t>
                      </a:r>
                      <a:r>
                        <a:rPr sz="1000" spc="9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2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High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priority</a:t>
                      </a:r>
                      <a:r>
                        <a:rPr sz="1000" spc="85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1000" spc="85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routed</a:t>
                      </a:r>
                      <a:r>
                        <a:rPr sz="1000" spc="9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sz="1000" spc="85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sz="1000" spc="9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Roads</a:t>
                      </a:r>
                      <a:r>
                        <a:rPr sz="1000" spc="85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Dept.</a:t>
                      </a:r>
                      <a:r>
                        <a:rPr sz="1000" spc="9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Expected</a:t>
                      </a:r>
                      <a:r>
                        <a:rPr sz="1000" spc="85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resolution:</a:t>
                      </a:r>
                      <a:r>
                        <a:rPr sz="1000" spc="9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within</a:t>
                      </a:r>
                      <a:r>
                        <a:rPr sz="1000" spc="85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25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72 </a:t>
                      </a:r>
                      <a:r>
                        <a:rPr sz="1000" spc="-1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hours.”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54610" marB="0">
                    <a:lnL w="6350">
                      <a:solidFill>
                        <a:srgbClr val="CFDFD8"/>
                      </a:solidFill>
                      <a:prstDash val="solid"/>
                    </a:lnL>
                    <a:lnR w="9525">
                      <a:solidFill>
                        <a:srgbClr val="CFDFD8"/>
                      </a:solidFill>
                      <a:prstDash val="solid"/>
                    </a:lnR>
                    <a:lnT w="6350">
                      <a:solidFill>
                        <a:srgbClr val="CFDFD8"/>
                      </a:solidFill>
                      <a:prstDash val="solid"/>
                    </a:lnT>
                    <a:lnB w="9525">
                      <a:solidFill>
                        <a:srgbClr val="CFDFD8"/>
                      </a:solidFill>
                      <a:prstDash val="solid"/>
                    </a:lnB>
                    <a:solidFill>
                      <a:srgbClr val="EFF6F2"/>
                    </a:solidFill>
                  </a:tcPr>
                </a:tc>
              </a:tr>
            </a:tbl>
          </a:graphicData>
        </a:graphic>
      </p:graphicFrame>
      <p:sp>
        <p:nvSpPr>
          <p:cNvPr id="21" name="object 21"/>
          <p:cNvSpPr txBox="1"/>
          <p:nvPr/>
        </p:nvSpPr>
        <p:spPr>
          <a:xfrm>
            <a:off x="840739" y="7023607"/>
            <a:ext cx="6076950" cy="55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2800"/>
              </a:lnSpc>
              <a:spcBef>
                <a:spcPts val="95"/>
              </a:spcBef>
            </a:pPr>
            <a:r>
              <a:rPr sz="950" i="1" dirty="0">
                <a:solidFill>
                  <a:srgbClr val="545454"/>
                </a:solidFill>
                <a:latin typeface="Arial"/>
                <a:cs typeface="Arial"/>
              </a:rPr>
              <a:t>Note:</a:t>
            </a:r>
            <a:r>
              <a:rPr sz="950" i="1" spc="4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950" i="1" dirty="0">
                <a:solidFill>
                  <a:srgbClr val="545454"/>
                </a:solidFill>
                <a:latin typeface="Arial"/>
                <a:cs typeface="Arial"/>
              </a:rPr>
              <a:t>this</a:t>
            </a:r>
            <a:r>
              <a:rPr sz="950" i="1" spc="5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950" i="1" dirty="0">
                <a:solidFill>
                  <a:srgbClr val="545454"/>
                </a:solidFill>
                <a:latin typeface="Arial"/>
                <a:cs typeface="Arial"/>
              </a:rPr>
              <a:t>demo</a:t>
            </a:r>
            <a:r>
              <a:rPr sz="950" i="1" spc="5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950" i="1" dirty="0">
                <a:solidFill>
                  <a:srgbClr val="545454"/>
                </a:solidFill>
                <a:latin typeface="Arial"/>
                <a:cs typeface="Arial"/>
              </a:rPr>
              <a:t>can</a:t>
            </a:r>
            <a:r>
              <a:rPr sz="950" i="1" spc="4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950" i="1" dirty="0">
                <a:solidFill>
                  <a:srgbClr val="545454"/>
                </a:solidFill>
                <a:latin typeface="Arial"/>
                <a:cs typeface="Arial"/>
              </a:rPr>
              <a:t>be</a:t>
            </a:r>
            <a:r>
              <a:rPr sz="950" i="1" spc="5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950" i="1" dirty="0">
                <a:solidFill>
                  <a:srgbClr val="545454"/>
                </a:solidFill>
                <a:latin typeface="Arial"/>
                <a:cs typeface="Arial"/>
              </a:rPr>
              <a:t>built</a:t>
            </a:r>
            <a:r>
              <a:rPr sz="950" i="1" spc="5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950" i="1" dirty="0">
                <a:solidFill>
                  <a:srgbClr val="545454"/>
                </a:solidFill>
                <a:latin typeface="Arial"/>
                <a:cs typeface="Arial"/>
              </a:rPr>
              <a:t>no-code</a:t>
            </a:r>
            <a:r>
              <a:rPr sz="950" i="1" spc="5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950" i="1" dirty="0">
                <a:solidFill>
                  <a:srgbClr val="545454"/>
                </a:solidFill>
                <a:latin typeface="Arial"/>
                <a:cs typeface="Arial"/>
              </a:rPr>
              <a:t>by</a:t>
            </a:r>
            <a:r>
              <a:rPr sz="950" i="1" spc="4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950" i="1" dirty="0">
                <a:solidFill>
                  <a:srgbClr val="545454"/>
                </a:solidFill>
                <a:latin typeface="Arial"/>
                <a:cs typeface="Arial"/>
              </a:rPr>
              <a:t>chaining</a:t>
            </a:r>
            <a:r>
              <a:rPr sz="950" i="1" spc="5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950" i="1" dirty="0">
                <a:solidFill>
                  <a:srgbClr val="545454"/>
                </a:solidFill>
                <a:latin typeface="Arial"/>
                <a:cs typeface="Arial"/>
              </a:rPr>
              <a:t>prompts</a:t>
            </a:r>
            <a:r>
              <a:rPr sz="950" i="1" spc="5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950" i="1" dirty="0">
                <a:solidFill>
                  <a:srgbClr val="545454"/>
                </a:solidFill>
                <a:latin typeface="Arial"/>
                <a:cs typeface="Arial"/>
              </a:rPr>
              <a:t>in</a:t>
            </a:r>
            <a:r>
              <a:rPr sz="950" i="1" spc="4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950" i="1" dirty="0">
                <a:solidFill>
                  <a:srgbClr val="545454"/>
                </a:solidFill>
                <a:latin typeface="Arial"/>
                <a:cs typeface="Arial"/>
              </a:rPr>
              <a:t>a</a:t>
            </a:r>
            <a:r>
              <a:rPr sz="950" i="1" spc="5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950" i="1" dirty="0">
                <a:solidFill>
                  <a:srgbClr val="545454"/>
                </a:solidFill>
                <a:latin typeface="Arial"/>
                <a:cs typeface="Arial"/>
              </a:rPr>
              <a:t>chat-based</a:t>
            </a:r>
            <a:r>
              <a:rPr sz="950" i="1" spc="5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950" i="1" dirty="0">
                <a:solidFill>
                  <a:srgbClr val="545454"/>
                </a:solidFill>
                <a:latin typeface="Arial"/>
                <a:cs typeface="Arial"/>
              </a:rPr>
              <a:t>AI</a:t>
            </a:r>
            <a:r>
              <a:rPr sz="950" i="1" spc="5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950" i="1" dirty="0">
                <a:solidFill>
                  <a:srgbClr val="545454"/>
                </a:solidFill>
                <a:latin typeface="Arial"/>
                <a:cs typeface="Arial"/>
              </a:rPr>
              <a:t>tool</a:t>
            </a:r>
            <a:r>
              <a:rPr sz="950" i="1" spc="4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950" i="1" dirty="0">
                <a:solidFill>
                  <a:srgbClr val="545454"/>
                </a:solidFill>
                <a:latin typeface="Arial"/>
                <a:cs typeface="Arial"/>
              </a:rPr>
              <a:t>(classification</a:t>
            </a:r>
            <a:r>
              <a:rPr sz="950" i="1" spc="5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950" i="1" dirty="0">
                <a:solidFill>
                  <a:srgbClr val="545454"/>
                </a:solidFill>
                <a:latin typeface="Arial"/>
                <a:cs typeface="Arial"/>
              </a:rPr>
              <a:t>prompt</a:t>
            </a:r>
            <a:r>
              <a:rPr sz="950" i="1" spc="5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545454"/>
                </a:solidFill>
                <a:latin typeface="Symbol"/>
                <a:cs typeface="Symbol"/>
              </a:rPr>
              <a:t></a:t>
            </a:r>
            <a:r>
              <a:rPr sz="950" spc="70" dirty="0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sz="950" i="1" spc="-25" dirty="0">
                <a:solidFill>
                  <a:srgbClr val="545454"/>
                </a:solidFill>
                <a:latin typeface="Arial"/>
                <a:cs typeface="Arial"/>
              </a:rPr>
              <a:t>RAG </a:t>
            </a:r>
            <a:r>
              <a:rPr sz="950" i="1" dirty="0">
                <a:solidFill>
                  <a:srgbClr val="545454"/>
                </a:solidFill>
                <a:latin typeface="Arial"/>
                <a:cs typeface="Arial"/>
              </a:rPr>
              <a:t>lookup</a:t>
            </a:r>
            <a:r>
              <a:rPr sz="950" i="1" spc="5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950" i="1" dirty="0">
                <a:solidFill>
                  <a:srgbClr val="545454"/>
                </a:solidFill>
                <a:latin typeface="Arial"/>
                <a:cs typeface="Arial"/>
              </a:rPr>
              <a:t>against</a:t>
            </a:r>
            <a:r>
              <a:rPr sz="950" i="1" spc="5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950" i="1" dirty="0">
                <a:solidFill>
                  <a:srgbClr val="545454"/>
                </a:solidFill>
                <a:latin typeface="Arial"/>
                <a:cs typeface="Arial"/>
              </a:rPr>
              <a:t>a</a:t>
            </a:r>
            <a:r>
              <a:rPr sz="950" i="1" spc="5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950" i="1" dirty="0">
                <a:solidFill>
                  <a:srgbClr val="545454"/>
                </a:solidFill>
                <a:latin typeface="Arial"/>
                <a:cs typeface="Arial"/>
              </a:rPr>
              <a:t>small</a:t>
            </a:r>
            <a:r>
              <a:rPr sz="950" i="1" spc="5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950" i="1" dirty="0">
                <a:solidFill>
                  <a:srgbClr val="545454"/>
                </a:solidFill>
                <a:latin typeface="Arial"/>
                <a:cs typeface="Arial"/>
              </a:rPr>
              <a:t>policy</a:t>
            </a:r>
            <a:r>
              <a:rPr sz="950" i="1" spc="5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950" i="1" dirty="0">
                <a:solidFill>
                  <a:srgbClr val="545454"/>
                </a:solidFill>
                <a:latin typeface="Arial"/>
                <a:cs typeface="Arial"/>
              </a:rPr>
              <a:t>document</a:t>
            </a:r>
            <a:r>
              <a:rPr sz="950" i="1" spc="5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545454"/>
                </a:solidFill>
                <a:latin typeface="Symbol"/>
                <a:cs typeface="Symbol"/>
              </a:rPr>
              <a:t></a:t>
            </a:r>
            <a:r>
              <a:rPr sz="950" spc="80" dirty="0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sz="950" i="1" dirty="0">
                <a:solidFill>
                  <a:srgbClr val="545454"/>
                </a:solidFill>
                <a:latin typeface="Arial"/>
                <a:cs typeface="Arial"/>
              </a:rPr>
              <a:t>response-drafting</a:t>
            </a:r>
            <a:r>
              <a:rPr sz="950" i="1" spc="5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950" i="1" dirty="0">
                <a:solidFill>
                  <a:srgbClr val="545454"/>
                </a:solidFill>
                <a:latin typeface="Arial"/>
                <a:cs typeface="Arial"/>
              </a:rPr>
              <a:t>prompt),</a:t>
            </a:r>
            <a:r>
              <a:rPr sz="950" i="1" spc="5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950" i="1" dirty="0">
                <a:solidFill>
                  <a:srgbClr val="545454"/>
                </a:solidFill>
                <a:latin typeface="Arial"/>
                <a:cs typeface="Arial"/>
              </a:rPr>
              <a:t>or</a:t>
            </a:r>
            <a:r>
              <a:rPr sz="950" i="1" spc="6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950" i="1" dirty="0">
                <a:solidFill>
                  <a:srgbClr val="545454"/>
                </a:solidFill>
                <a:latin typeface="Arial"/>
                <a:cs typeface="Arial"/>
              </a:rPr>
              <a:t>in</a:t>
            </a:r>
            <a:r>
              <a:rPr sz="950" i="1" spc="5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950" i="1" dirty="0">
                <a:solidFill>
                  <a:srgbClr val="545454"/>
                </a:solidFill>
                <a:latin typeface="Arial"/>
                <a:cs typeface="Arial"/>
              </a:rPr>
              <a:t>a</a:t>
            </a:r>
            <a:r>
              <a:rPr sz="950" i="1" spc="5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950" i="1" dirty="0">
                <a:solidFill>
                  <a:srgbClr val="545454"/>
                </a:solidFill>
                <a:latin typeface="Arial"/>
                <a:cs typeface="Arial"/>
              </a:rPr>
              <a:t>no-code</a:t>
            </a:r>
            <a:r>
              <a:rPr sz="950" i="1" spc="5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950" i="1" dirty="0">
                <a:solidFill>
                  <a:srgbClr val="545454"/>
                </a:solidFill>
                <a:latin typeface="Arial"/>
                <a:cs typeface="Arial"/>
              </a:rPr>
              <a:t>chatbot</a:t>
            </a:r>
            <a:r>
              <a:rPr sz="950" i="1" spc="5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950" i="1" dirty="0">
                <a:solidFill>
                  <a:srgbClr val="545454"/>
                </a:solidFill>
                <a:latin typeface="Arial"/>
                <a:cs typeface="Arial"/>
              </a:rPr>
              <a:t>builder</a:t>
            </a:r>
            <a:r>
              <a:rPr sz="950" i="1" spc="5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950" i="1" dirty="0">
                <a:solidFill>
                  <a:srgbClr val="545454"/>
                </a:solidFill>
                <a:latin typeface="Arial"/>
                <a:cs typeface="Arial"/>
              </a:rPr>
              <a:t>such</a:t>
            </a:r>
            <a:r>
              <a:rPr sz="950" i="1" spc="5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950" i="1" spc="-25" dirty="0">
                <a:solidFill>
                  <a:srgbClr val="545454"/>
                </a:solidFill>
                <a:latin typeface="Arial"/>
                <a:cs typeface="Arial"/>
              </a:rPr>
              <a:t>as </a:t>
            </a:r>
            <a:r>
              <a:rPr sz="950" i="1" dirty="0">
                <a:solidFill>
                  <a:srgbClr val="545454"/>
                </a:solidFill>
                <a:latin typeface="Arial"/>
                <a:cs typeface="Arial"/>
              </a:rPr>
              <a:t>Botpress</a:t>
            </a:r>
            <a:r>
              <a:rPr sz="950" i="1" spc="5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950" i="1" dirty="0">
                <a:solidFill>
                  <a:srgbClr val="545454"/>
                </a:solidFill>
                <a:latin typeface="Arial"/>
                <a:cs typeface="Arial"/>
              </a:rPr>
              <a:t>or</a:t>
            </a:r>
            <a:r>
              <a:rPr sz="950" i="1" spc="5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950" i="1" spc="-10" dirty="0">
                <a:solidFill>
                  <a:srgbClr val="545454"/>
                </a:solidFill>
                <a:latin typeface="Arial"/>
                <a:cs typeface="Arial"/>
              </a:rPr>
              <a:t>Voiceflow.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0739" y="703580"/>
            <a:ext cx="6024880" cy="1686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b="1" dirty="0">
                <a:solidFill>
                  <a:srgbClr val="1F5B4D"/>
                </a:solidFill>
                <a:latin typeface="Arial"/>
                <a:cs typeface="Arial"/>
              </a:rPr>
              <a:t>3.</a:t>
            </a:r>
            <a:r>
              <a:rPr sz="1450" b="1" spc="-30" dirty="0">
                <a:solidFill>
                  <a:srgbClr val="1F5B4D"/>
                </a:solidFill>
                <a:latin typeface="Arial"/>
                <a:cs typeface="Arial"/>
              </a:rPr>
              <a:t> </a:t>
            </a:r>
            <a:r>
              <a:rPr sz="1450" b="1" dirty="0">
                <a:solidFill>
                  <a:srgbClr val="1F5B4D"/>
                </a:solidFill>
                <a:latin typeface="Arial"/>
                <a:cs typeface="Arial"/>
              </a:rPr>
              <a:t>Impact</a:t>
            </a:r>
            <a:r>
              <a:rPr sz="1450" b="1" spc="-30" dirty="0">
                <a:solidFill>
                  <a:srgbClr val="1F5B4D"/>
                </a:solidFill>
                <a:latin typeface="Arial"/>
                <a:cs typeface="Arial"/>
              </a:rPr>
              <a:t> </a:t>
            </a:r>
            <a:r>
              <a:rPr sz="1450" b="1" spc="-10" dirty="0">
                <a:solidFill>
                  <a:srgbClr val="1F5B4D"/>
                </a:solidFill>
                <a:latin typeface="Arial"/>
                <a:cs typeface="Arial"/>
              </a:rPr>
              <a:t>Statement</a:t>
            </a: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sz="1150" b="1" dirty="0">
                <a:solidFill>
                  <a:srgbClr val="E8753A"/>
                </a:solidFill>
                <a:latin typeface="Arial"/>
                <a:cs typeface="Arial"/>
              </a:rPr>
              <a:t>What</a:t>
            </a:r>
            <a:r>
              <a:rPr sz="1150" b="1" spc="-20" dirty="0">
                <a:solidFill>
                  <a:srgbClr val="E8753A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E8753A"/>
                </a:solidFill>
                <a:latin typeface="Arial"/>
                <a:cs typeface="Arial"/>
              </a:rPr>
              <a:t>changes</a:t>
            </a:r>
            <a:r>
              <a:rPr sz="1150" b="1" spc="-20" dirty="0">
                <a:solidFill>
                  <a:srgbClr val="E8753A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E8753A"/>
                </a:solidFill>
                <a:latin typeface="Arial"/>
                <a:cs typeface="Arial"/>
              </a:rPr>
              <a:t>if</a:t>
            </a:r>
            <a:r>
              <a:rPr sz="1150" b="1" spc="-20" dirty="0">
                <a:solidFill>
                  <a:srgbClr val="E8753A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E8753A"/>
                </a:solidFill>
                <a:latin typeface="Arial"/>
                <a:cs typeface="Arial"/>
              </a:rPr>
              <a:t>this</a:t>
            </a:r>
            <a:r>
              <a:rPr sz="1150" b="1" spc="-20" dirty="0">
                <a:solidFill>
                  <a:srgbClr val="E8753A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E8753A"/>
                </a:solidFill>
                <a:latin typeface="Arial"/>
                <a:cs typeface="Arial"/>
              </a:rPr>
              <a:t>solution</a:t>
            </a:r>
            <a:r>
              <a:rPr sz="1150" b="1" spc="-20" dirty="0">
                <a:solidFill>
                  <a:srgbClr val="E8753A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E8753A"/>
                </a:solidFill>
                <a:latin typeface="Arial"/>
                <a:cs typeface="Arial"/>
              </a:rPr>
              <a:t>is</a:t>
            </a:r>
            <a:r>
              <a:rPr sz="1150" b="1" spc="-20" dirty="0">
                <a:solidFill>
                  <a:srgbClr val="E8753A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E8753A"/>
                </a:solidFill>
                <a:latin typeface="Arial"/>
                <a:cs typeface="Arial"/>
              </a:rPr>
              <a:t>implemented?</a:t>
            </a:r>
            <a:endParaRPr sz="1150">
              <a:latin typeface="Arial"/>
              <a:cs typeface="Arial"/>
            </a:endParaRPr>
          </a:p>
          <a:p>
            <a:pPr marL="12700" marR="41275">
              <a:lnSpc>
                <a:spcPct val="125000"/>
              </a:lnSpc>
              <a:spcBef>
                <a:spcPts val="250"/>
              </a:spcBef>
            </a:pP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Civic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complaints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move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from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an</a:t>
            </a:r>
            <a:r>
              <a:rPr sz="1000" spc="10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unstructured,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manually-triaged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backlog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to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</a:t>
            </a:r>
            <a:r>
              <a:rPr sz="1000" spc="10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system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where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A1A1A"/>
                </a:solidFill>
                <a:latin typeface="Arial MT"/>
                <a:cs typeface="Arial MT"/>
              </a:rPr>
              <a:t>urgent,</a:t>
            </a:r>
            <a:r>
              <a:rPr sz="1000" spc="50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safety-related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issues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are</a:t>
            </a:r>
            <a:r>
              <a:rPr sz="1000" spc="10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automatically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flagged</a:t>
            </a:r>
            <a:r>
              <a:rPr sz="1000" spc="10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and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routed</a:t>
            </a:r>
            <a:r>
              <a:rPr sz="1000" spc="10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ahead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of</a:t>
            </a:r>
            <a:r>
              <a:rPr sz="1000" spc="10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routine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ones.</a:t>
            </a:r>
            <a:r>
              <a:rPr sz="1000" spc="10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Citizens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gain</a:t>
            </a:r>
            <a:r>
              <a:rPr sz="1000" spc="10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A1A1A"/>
                </a:solidFill>
                <a:latin typeface="Arial MT"/>
                <a:cs typeface="Arial MT"/>
              </a:rPr>
              <a:t>visibility</a:t>
            </a:r>
            <a:endParaRPr sz="1000">
              <a:latin typeface="Arial MT"/>
              <a:cs typeface="Arial MT"/>
            </a:endParaRPr>
          </a:p>
          <a:p>
            <a:pPr marL="12700" marR="5080">
              <a:lnSpc>
                <a:spcPct val="125000"/>
              </a:lnSpc>
            </a:pP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into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where</a:t>
            </a:r>
            <a:r>
              <a:rPr sz="1000" spc="10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their</a:t>
            </a:r>
            <a:r>
              <a:rPr sz="1000" spc="10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complaint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stands,</a:t>
            </a:r>
            <a:r>
              <a:rPr sz="1000" spc="10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and</a:t>
            </a:r>
            <a:r>
              <a:rPr sz="1000" spc="10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municipal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officials</a:t>
            </a:r>
            <a:r>
              <a:rPr sz="1000" spc="10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gain</a:t>
            </a:r>
            <a:r>
              <a:rPr sz="1000" spc="10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aggregated,</a:t>
            </a:r>
            <a:r>
              <a:rPr sz="1000" spc="10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categorized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data</a:t>
            </a:r>
            <a:r>
              <a:rPr sz="1000" spc="10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that</a:t>
            </a:r>
            <a:r>
              <a:rPr sz="1000" spc="10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A1A1A"/>
                </a:solidFill>
                <a:latin typeface="Arial MT"/>
                <a:cs typeface="Arial MT"/>
              </a:rPr>
              <a:t>reveals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recurring</a:t>
            </a:r>
            <a:r>
              <a:rPr sz="1000" spc="10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problem</a:t>
            </a:r>
            <a:r>
              <a:rPr sz="1000" spc="10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areas</a:t>
            </a:r>
            <a:r>
              <a:rPr sz="1000" spc="11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—</a:t>
            </a:r>
            <a:r>
              <a:rPr sz="1000" spc="10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supporting</a:t>
            </a:r>
            <a:r>
              <a:rPr sz="1000" spc="11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proactive</a:t>
            </a:r>
            <a:r>
              <a:rPr sz="1000" spc="10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infrastructure</a:t>
            </a:r>
            <a:r>
              <a:rPr sz="1000" spc="11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planning</a:t>
            </a:r>
            <a:r>
              <a:rPr sz="1000" spc="10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rather</a:t>
            </a:r>
            <a:r>
              <a:rPr sz="1000" spc="11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than</a:t>
            </a:r>
            <a:r>
              <a:rPr sz="1000" spc="10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one-off</a:t>
            </a:r>
            <a:r>
              <a:rPr sz="1000" spc="11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A1A1A"/>
                </a:solidFill>
                <a:latin typeface="Arial MT"/>
                <a:cs typeface="Arial MT"/>
              </a:rPr>
              <a:t>fixes.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150" b="1" dirty="0">
                <a:solidFill>
                  <a:srgbClr val="E8753A"/>
                </a:solidFill>
                <a:latin typeface="Arial"/>
                <a:cs typeface="Arial"/>
              </a:rPr>
              <a:t>Who</a:t>
            </a:r>
            <a:r>
              <a:rPr sz="1150" b="1" spc="-15" dirty="0">
                <a:solidFill>
                  <a:srgbClr val="E8753A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E8753A"/>
                </a:solidFill>
                <a:latin typeface="Arial"/>
                <a:cs typeface="Arial"/>
              </a:rPr>
              <a:t>benefits</a:t>
            </a:r>
            <a:r>
              <a:rPr sz="1150" b="1" spc="-15" dirty="0">
                <a:solidFill>
                  <a:srgbClr val="E8753A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E8753A"/>
                </a:solidFill>
                <a:latin typeface="Arial"/>
                <a:cs typeface="Arial"/>
              </a:rPr>
              <a:t>and</a:t>
            </a:r>
            <a:r>
              <a:rPr sz="1150" b="1" spc="-15" dirty="0">
                <a:solidFill>
                  <a:srgbClr val="E8753A"/>
                </a:solidFill>
                <a:latin typeface="Arial"/>
                <a:cs typeface="Arial"/>
              </a:rPr>
              <a:t> </a:t>
            </a:r>
            <a:r>
              <a:rPr sz="1150" b="1" spc="-20" dirty="0">
                <a:solidFill>
                  <a:srgbClr val="E8753A"/>
                </a:solidFill>
                <a:latin typeface="Arial"/>
                <a:cs typeface="Arial"/>
              </a:rPr>
              <a:t>how?</a:t>
            </a:r>
            <a:endParaRPr sz="11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0739" y="2430780"/>
            <a:ext cx="10160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E8753A"/>
                </a:solidFill>
                <a:latin typeface="MS Gothic"/>
                <a:cs typeface="MS Gothic"/>
              </a:rPr>
              <a:t>●</a:t>
            </a:r>
            <a:endParaRPr sz="600">
              <a:latin typeface="MS Gothic"/>
              <a:cs typeface="MS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70939" y="2397252"/>
            <a:ext cx="5674995" cy="977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51460">
              <a:lnSpc>
                <a:spcPct val="125000"/>
              </a:lnSpc>
              <a:spcBef>
                <a:spcPts val="95"/>
              </a:spcBef>
            </a:pPr>
            <a:r>
              <a:rPr sz="1000" b="1" dirty="0">
                <a:solidFill>
                  <a:srgbClr val="1A1A1A"/>
                </a:solidFill>
                <a:latin typeface="Arial"/>
                <a:cs typeface="Arial"/>
              </a:rPr>
              <a:t>Citizens</a:t>
            </a:r>
            <a:r>
              <a:rPr sz="1000" b="1" spc="95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get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faster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acknowledgment,</a:t>
            </a:r>
            <a:r>
              <a:rPr sz="1000" spc="10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clear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expectations,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and</a:t>
            </a:r>
            <a:r>
              <a:rPr sz="1000" spc="10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more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accessible</a:t>
            </a:r>
            <a:r>
              <a:rPr sz="1000" spc="10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way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to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A1A1A"/>
                </a:solidFill>
                <a:latin typeface="Arial MT"/>
                <a:cs typeface="Arial MT"/>
              </a:rPr>
              <a:t>report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issues</a:t>
            </a:r>
            <a:r>
              <a:rPr sz="1000" spc="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(including</a:t>
            </a:r>
            <a:r>
              <a:rPr sz="10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via</a:t>
            </a:r>
            <a:r>
              <a:rPr sz="10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A1A1A"/>
                </a:solidFill>
                <a:latin typeface="Arial MT"/>
                <a:cs typeface="Arial MT"/>
              </a:rPr>
              <a:t>photo).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000" b="1" dirty="0">
                <a:solidFill>
                  <a:srgbClr val="1A1A1A"/>
                </a:solidFill>
                <a:latin typeface="Arial"/>
                <a:cs typeface="Arial"/>
              </a:rPr>
              <a:t>Grievance</a:t>
            </a:r>
            <a:r>
              <a:rPr sz="1000" b="1" spc="95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1A1A1A"/>
                </a:solidFill>
                <a:latin typeface="Arial"/>
                <a:cs typeface="Arial"/>
              </a:rPr>
              <a:t>redressal</a:t>
            </a:r>
            <a:r>
              <a:rPr sz="1000" b="1" spc="95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1A1A1A"/>
                </a:solidFill>
                <a:latin typeface="Arial"/>
                <a:cs typeface="Arial"/>
              </a:rPr>
              <a:t>staff</a:t>
            </a:r>
            <a:r>
              <a:rPr sz="1000" b="1" spc="95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spend</a:t>
            </a:r>
            <a:r>
              <a:rPr sz="1000" spc="10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less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time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manually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sorting</a:t>
            </a:r>
            <a:r>
              <a:rPr sz="1000" spc="10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and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re-routing</a:t>
            </a:r>
            <a:r>
              <a:rPr sz="10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A1A1A"/>
                </a:solidFill>
                <a:latin typeface="Arial MT"/>
                <a:cs typeface="Arial MT"/>
              </a:rPr>
              <a:t>tickets.</a:t>
            </a:r>
            <a:endParaRPr sz="1000">
              <a:latin typeface="Arial MT"/>
              <a:cs typeface="Arial MT"/>
            </a:endParaRPr>
          </a:p>
          <a:p>
            <a:pPr marL="12700" marR="5080">
              <a:lnSpc>
                <a:spcPct val="125000"/>
              </a:lnSpc>
            </a:pPr>
            <a:r>
              <a:rPr sz="1000" b="1" dirty="0">
                <a:solidFill>
                  <a:srgbClr val="1A1A1A"/>
                </a:solidFill>
                <a:latin typeface="Arial"/>
                <a:cs typeface="Arial"/>
              </a:rPr>
              <a:t>Ward</a:t>
            </a:r>
            <a:r>
              <a:rPr sz="1000" b="1" spc="80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1A1A1A"/>
                </a:solidFill>
                <a:latin typeface="Arial"/>
                <a:cs typeface="Arial"/>
              </a:rPr>
              <a:t>officials</a:t>
            </a:r>
            <a:r>
              <a:rPr sz="1000" b="1" spc="85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1A1A1A"/>
                </a:solidFill>
                <a:latin typeface="Arial"/>
                <a:cs typeface="Arial"/>
              </a:rPr>
              <a:t>/</a:t>
            </a:r>
            <a:r>
              <a:rPr sz="1000" b="1" spc="85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1A1A1A"/>
                </a:solidFill>
                <a:latin typeface="Arial"/>
                <a:cs typeface="Arial"/>
              </a:rPr>
              <a:t>city</a:t>
            </a:r>
            <a:r>
              <a:rPr sz="1000" b="1" spc="85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1A1A1A"/>
                </a:solidFill>
                <a:latin typeface="Arial"/>
                <a:cs typeface="Arial"/>
              </a:rPr>
              <a:t>planners</a:t>
            </a:r>
            <a:r>
              <a:rPr sz="1000" b="1" spc="80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get</a:t>
            </a:r>
            <a:r>
              <a:rPr sz="1000" spc="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pattern-level</a:t>
            </a:r>
            <a:r>
              <a:rPr sz="1000" spc="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data</a:t>
            </a:r>
            <a:r>
              <a:rPr sz="1000" spc="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(which</a:t>
            </a:r>
            <a:r>
              <a:rPr sz="1000" spc="8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issues,</a:t>
            </a:r>
            <a:r>
              <a:rPr sz="1000" spc="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where,</a:t>
            </a:r>
            <a:r>
              <a:rPr sz="1000" spc="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how</a:t>
            </a:r>
            <a:r>
              <a:rPr sz="1000" spc="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often)</a:t>
            </a:r>
            <a:r>
              <a:rPr sz="1000" spc="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to</a:t>
            </a:r>
            <a:r>
              <a:rPr sz="1000" spc="8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A1A1A"/>
                </a:solidFill>
                <a:latin typeface="Arial MT"/>
                <a:cs typeface="Arial MT"/>
              </a:rPr>
              <a:t>prioritize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budgets</a:t>
            </a:r>
            <a:r>
              <a:rPr sz="10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and</a:t>
            </a:r>
            <a:r>
              <a:rPr sz="10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A1A1A"/>
                </a:solidFill>
                <a:latin typeface="Arial MT"/>
                <a:cs typeface="Arial MT"/>
              </a:rPr>
              <a:t>interventions.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0739" y="2811780"/>
            <a:ext cx="10160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E8753A"/>
                </a:solidFill>
                <a:latin typeface="MS Gothic"/>
                <a:cs typeface="MS Gothic"/>
              </a:rPr>
              <a:t>●</a:t>
            </a:r>
            <a:endParaRPr sz="600">
              <a:latin typeface="MS Gothic"/>
              <a:cs typeface="MS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0739" y="3002280"/>
            <a:ext cx="10160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E8753A"/>
                </a:solidFill>
                <a:latin typeface="MS Gothic"/>
                <a:cs typeface="MS Gothic"/>
              </a:rPr>
              <a:t>●</a:t>
            </a:r>
            <a:endParaRPr sz="600">
              <a:latin typeface="MS Gothic"/>
              <a:cs typeface="MS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0739" y="3708908"/>
            <a:ext cx="5811520" cy="381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2800"/>
              </a:lnSpc>
              <a:spcBef>
                <a:spcPts val="95"/>
              </a:spcBef>
            </a:pPr>
            <a:r>
              <a:rPr sz="950" i="1" dirty="0">
                <a:solidFill>
                  <a:srgbClr val="545454"/>
                </a:solidFill>
                <a:latin typeface="Arial"/>
                <a:cs typeface="Arial"/>
              </a:rPr>
              <a:t>Prepared</a:t>
            </a:r>
            <a:r>
              <a:rPr sz="950" i="1" spc="5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950" i="1" dirty="0">
                <a:solidFill>
                  <a:srgbClr val="545454"/>
                </a:solidFill>
                <a:latin typeface="Arial"/>
                <a:cs typeface="Arial"/>
              </a:rPr>
              <a:t>as</a:t>
            </a:r>
            <a:r>
              <a:rPr sz="950" i="1" spc="5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950" i="1" dirty="0">
                <a:solidFill>
                  <a:srgbClr val="545454"/>
                </a:solidFill>
                <a:latin typeface="Arial"/>
                <a:cs typeface="Arial"/>
              </a:rPr>
              <a:t>part</a:t>
            </a:r>
            <a:r>
              <a:rPr sz="950" i="1" spc="5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950" i="1" dirty="0">
                <a:solidFill>
                  <a:srgbClr val="545454"/>
                </a:solidFill>
                <a:latin typeface="Arial"/>
                <a:cs typeface="Arial"/>
              </a:rPr>
              <a:t>of</a:t>
            </a:r>
            <a:r>
              <a:rPr sz="950" i="1" spc="5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950" i="1" dirty="0">
                <a:solidFill>
                  <a:srgbClr val="545454"/>
                </a:solidFill>
                <a:latin typeface="Arial"/>
                <a:cs typeface="Arial"/>
              </a:rPr>
              <a:t>the</a:t>
            </a:r>
            <a:r>
              <a:rPr sz="950" i="1" spc="5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950" i="1" dirty="0">
                <a:solidFill>
                  <a:srgbClr val="545454"/>
                </a:solidFill>
                <a:latin typeface="Arial"/>
                <a:cs typeface="Arial"/>
              </a:rPr>
              <a:t>1M1B</a:t>
            </a:r>
            <a:r>
              <a:rPr sz="950" i="1" spc="5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950" i="1" dirty="0">
                <a:solidFill>
                  <a:srgbClr val="545454"/>
                </a:solidFill>
                <a:latin typeface="Arial"/>
                <a:cs typeface="Arial"/>
              </a:rPr>
              <a:t>AI</a:t>
            </a:r>
            <a:r>
              <a:rPr sz="950" i="1" spc="5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950" i="1" dirty="0">
                <a:solidFill>
                  <a:srgbClr val="545454"/>
                </a:solidFill>
                <a:latin typeface="Arial"/>
                <a:cs typeface="Arial"/>
              </a:rPr>
              <a:t>for</a:t>
            </a:r>
            <a:r>
              <a:rPr sz="950" i="1" spc="5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950" i="1" dirty="0">
                <a:solidFill>
                  <a:srgbClr val="545454"/>
                </a:solidFill>
                <a:latin typeface="Arial"/>
                <a:cs typeface="Arial"/>
              </a:rPr>
              <a:t>Sustainability</a:t>
            </a:r>
            <a:r>
              <a:rPr sz="950" i="1" spc="5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950" i="1" dirty="0">
                <a:solidFill>
                  <a:srgbClr val="545454"/>
                </a:solidFill>
                <a:latin typeface="Arial"/>
                <a:cs typeface="Arial"/>
              </a:rPr>
              <a:t>Virtual</a:t>
            </a:r>
            <a:r>
              <a:rPr sz="950" i="1" spc="5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950" i="1" dirty="0">
                <a:solidFill>
                  <a:srgbClr val="545454"/>
                </a:solidFill>
                <a:latin typeface="Arial"/>
                <a:cs typeface="Arial"/>
              </a:rPr>
              <a:t>Internship</a:t>
            </a:r>
            <a:r>
              <a:rPr sz="950" i="1" spc="5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950" i="1" dirty="0">
                <a:solidFill>
                  <a:srgbClr val="545454"/>
                </a:solidFill>
                <a:latin typeface="Arial"/>
                <a:cs typeface="Arial"/>
              </a:rPr>
              <a:t>(in</a:t>
            </a:r>
            <a:r>
              <a:rPr sz="950" i="1" spc="5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950" i="1" dirty="0">
                <a:solidFill>
                  <a:srgbClr val="545454"/>
                </a:solidFill>
                <a:latin typeface="Arial"/>
                <a:cs typeface="Arial"/>
              </a:rPr>
              <a:t>collaboration</a:t>
            </a:r>
            <a:r>
              <a:rPr sz="950" i="1" spc="5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950" i="1" dirty="0">
                <a:solidFill>
                  <a:srgbClr val="545454"/>
                </a:solidFill>
                <a:latin typeface="Arial"/>
                <a:cs typeface="Arial"/>
              </a:rPr>
              <a:t>with</a:t>
            </a:r>
            <a:r>
              <a:rPr sz="950" i="1" spc="5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950" i="1" dirty="0">
                <a:solidFill>
                  <a:srgbClr val="545454"/>
                </a:solidFill>
                <a:latin typeface="Arial"/>
                <a:cs typeface="Arial"/>
              </a:rPr>
              <a:t>IBM</a:t>
            </a:r>
            <a:r>
              <a:rPr sz="950" i="1" spc="5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950" i="1" dirty="0">
                <a:solidFill>
                  <a:srgbClr val="545454"/>
                </a:solidFill>
                <a:latin typeface="Arial"/>
                <a:cs typeface="Arial"/>
              </a:rPr>
              <a:t>SkillsBuild</a:t>
            </a:r>
            <a:r>
              <a:rPr sz="950" i="1" spc="5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950" i="1" spc="-50" dirty="0">
                <a:solidFill>
                  <a:srgbClr val="545454"/>
                </a:solidFill>
                <a:latin typeface="Arial"/>
                <a:cs typeface="Arial"/>
              </a:rPr>
              <a:t>&amp; </a:t>
            </a:r>
            <a:r>
              <a:rPr sz="950" i="1" spc="-10" dirty="0">
                <a:solidFill>
                  <a:srgbClr val="545454"/>
                </a:solidFill>
                <a:latin typeface="Arial"/>
                <a:cs typeface="Arial"/>
              </a:rPr>
              <a:t>AICTE).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928</Words>
  <Application>Microsoft Office PowerPoint</Application>
  <PresentationFormat>Custom</PresentationFormat>
  <Paragraphs>85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MS Gothic</vt:lpstr>
      <vt:lpstr>Arial</vt:lpstr>
      <vt:lpstr>Arial MT</vt:lpstr>
      <vt:lpstr>Calibri</vt:lpstr>
      <vt:lpstr>Symbol</vt:lpstr>
      <vt:lpstr>Times New Roman</vt:lpstr>
      <vt:lpstr>Office Theme</vt:lpstr>
      <vt:lpstr>CityVoice AI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(anonymous)</dc:title>
  <dc:subject>(unspecified)</dc:subject>
  <dc:creator>(anonymous)</dc:creator>
  <cp:lastModifiedBy>Microsoft account</cp:lastModifiedBy>
  <cp:revision>1</cp:revision>
  <dcterms:created xsi:type="dcterms:W3CDTF">2026-09-08T05:50:54Z</dcterms:created>
  <dcterms:modified xsi:type="dcterms:W3CDTF">2026-09-08T05:51:44Z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2026-09-07T00:00:00Z</vt:filetime>
  </property>
  <property fmtid="{D5CDD505-2E9C-101B-9397-08002B2CF9AE}" pid="4" name="Creator">
    <vt:lpwstr>(unspecified)</vt:lpwstr>
  </property>
  <property fmtid="{D5CDD505-2E9C-101B-9397-08002B2CF9AE}" pid="5" name="LastSaved">
    <vt:filetime>2026-09-08T00:00:00Z</vt:filetime>
  </property>
  <property fmtid="{D5CDD505-2E9C-101B-9397-08002B2CF9AE}" pid="6" name="Producer">
    <vt:lpwstr>ReportLab PDF Library - (opensource)</vt:lpwstr>
  </property>
</Properties>
</file>